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and the one-line idea: a remittance prototype where a confirmed rand payment becomes a real on-chain token payment to the recipient. Be upfront that cash-in and cash-out are simulated; the XRPL leg is real Testnet.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number: a roughly R215 flat fee on a R1,370 send is about 15–16% before the exchange-rate spread. Western Union and MoneyGram do solve a real problem, getting cash to people without bank accounts, but with many intermediaries, posted-plus-spread pricing and slow cash payout.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claim is narrow on purpose. We don't say a ledger removes the Reserve Bank or FICA. We say: an itemised fee is easier to audit than an opaque tariff, a timed quote with a cancel path stops abandoned drafts eating limits, and an on-chain hash gives the recipient proof they can check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customer identity can both send and receive; the only other role is admin. Settlement is never queued before an admin confirms cash-in. On cash-out, the fiat payout is simulated but the reserved UCTUSD is really paid back to the issuer, which burns it. Anyone who is the sender, the linked recipient or an admin can track a transfer by its MG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app is the marked product; Swagger at /docs is a developer tool. FastAPI owns the business rules. SQLite, migrated with Alembic, is the durable record. Redis only carries settlement messages. Exchange rates come from open.er-api.com, cached for five minutes, falling back to a rate in .env. The worker signs Testnet Payments with xrpl-py and writes the hash and recipient credit back in one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we fixed first. The worker reads its own pending list, then idle entries from other consumers, then new ones. Retrying a completed settlement returns 409. The recipient account's address and encrypted secret are saved before the TrustSet, so a crash there reuses the same wallet instead of creating a second one. A trust line reserves a little XRP; it isn't spent.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FX margin makes the rate worse than mid-market, which is how we earn on the conversion, and it's shown on the quote rather than hidden. The cash-out fee on the quote is an estimate: about 1.06 UCTUSD here, leaving roughly 69.49. At a R25 send the fee is R25.25, so the API refuses it. The comparison is indicative: our cash legs are simulated and we aren't an agent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here. Show that a Payment is idempotent, retry of a completed settlement returns 409 and nothing is credited twice, before dwelling on the quote timer; that's the property that protects money. Before the demo, check the verified-tier caps are back at R3,000 / R25,000, since the seeding scripts raise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opaque sessions over JWT because logout has to actually revoke access, and a JWT would need a server-side denylist that looks like a sessions table anyway. XRPL secrets are decrypted only in the signing path. Production would add a secrets manager, key rotation with a dual-decrypt window, restricted CORS origins, and a real database instead of SQLite holding encrypted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putting value on a ledger doesn't take the corridor outside FICA or Reserve Bank exchange control. Our KYC is a teaching model of a control, not a customer due diligence programme: no sanctions lists, no Home Affairs check, no suspicious-transaction reports. Custodial wallets make this a custody business, which would engage the FSCA crypto-asset framework. The prototype must never touch real customer funds or Mainnet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non-functional targets were met: responses under 2 seconds, and stable at about 50 concurrent users. The settlement run reconciled exactly: the treasury dropped by 22.0263 UCTUSD, the sum of the 15 payments. Not load-tested: concurrent settlement, since the worker handles one message at a time, and concurrent quotes from a single sender.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GitHub sketch got the stack right: FastAPI, bcrypt, Redis Streams, Testnet Payments. It also had correctness bugs we wouldn't demo. We deliberately fixed settlement before quotes: Patch A made the ledger tell the truth, then Patch B added quote expiry, tracking references and hashed sessions on top, without rewriting the first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honestly: this is a single-process academic prototype. The limits race is acceptable here but not for a production ledger. Then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4" name="Text 2"/>
          <p:cNvSpPr txBox="1"/>
          <p:nvPr/>
        </p:nvSpPr>
        <p:spPr>
          <a:xfrm>
            <a:off x="731520" y="3017520"/>
            <a:ext cx="7315200" cy="548640"/>
          </a:xfrm>
          <a:prstGeom prst="rect">
            <a:avLst/>
          </a:prstGeom>
          <a:noFill/>
          <a:ln/>
        </p:spPr>
        <p:txBody>
          <a:bodyPr wrap="square" lIns="0" tIns="0" rIns="0" bIns="0" rtlCol="0" anchor="t"/>
          <a:lstStyle/>
          <a:p>
            <a:pPr indent="0" marL="0">
              <a:buNone/>
            </a:pPr>
            <a:r>
              <a:rPr lang="en-US" sz="2600" dirty="0" i="1">
                <a:solidFill>
                  <a:srgbClr val="F2B84B"/>
                </a:solidFill>
                <a:latin typeface="Calibri" pitchFamily="34" charset="0"/>
                <a:ea typeface="Calibri" pitchFamily="34" charset="-122"/>
                <a:cs typeface="Calibri" pitchFamily="34" charset="-120"/>
              </a:rPr>
              <a:t>Rooted here. Reaching there.</a:t>
            </a:r>
            <a:endParaRPr lang="en-US" sz="2000" dirty="0"/>
          </a:p>
        </p:txBody>
      </p:sp>
      <p:sp>
        <p:nvSpPr>
          <p:cNvPr id="2" name="Text 0"/>
          <p:cNvSpPr txBox="1"/>
          <p:nvPr/>
        </p:nvSpPr>
        <p:spPr>
          <a:xfrm>
            <a:off x="731520" y="731520"/>
            <a:ext cx="10058400" cy="365760"/>
          </a:xfrm>
          <a:prstGeom prst="rect">
            <a:avLst/>
          </a:prstGeom>
          <a:noFill/>
          <a:ln/>
        </p:spPr>
        <p:txBody>
          <a:bodyPr wrap="square" lIns="0" tIns="0" rIns="0" bIns="0" rtlCol="0" anchor="t"/>
          <a:lstStyle/>
          <a:p>
            <a:pPr indent="0" marL="0">
              <a:buNone/>
            </a:pPr>
            <a:r>
              <a:rPr lang="en-US" sz="1400" b="1" spc="300" kern="0" dirty="0">
                <a:solidFill>
                  <a:srgbClr val="F2B84B"/>
                </a:solidFill>
                <a:latin typeface="Calibri" pitchFamily="34" charset="0"/>
                <a:ea typeface="Calibri" pitchFamily="34" charset="-122"/>
                <a:cs typeface="Calibri" pitchFamily="34" charset="-120"/>
              </a:rPr>
              <a:t>GROUP 3 · UNIVERSITY OF CAPE TOWN</a:t>
            </a:r>
            <a:endParaRPr lang="en-US" sz="1400" dirty="0"/>
          </a:p>
        </p:txBody>
      </p:sp>
      <p:sp>
        <p:nvSpPr>
          <p:cNvPr id="3" name="Text 1"/>
          <p:cNvSpPr txBox="1"/>
          <p:nvPr/>
        </p:nvSpPr>
        <p:spPr>
          <a:xfrm>
            <a:off x="731520" y="1554480"/>
            <a:ext cx="7315200" cy="1371600"/>
          </a:xfrm>
          <a:prstGeom prst="rect">
            <a:avLst/>
          </a:prstGeom>
          <a:noFill/>
          <a:ln/>
        </p:spPr>
        <p:txBody>
          <a:bodyPr wrap="square" lIns="0" tIns="0" rIns="0" bIns="0" rtlCol="0" anchor="b"/>
          <a:lstStyle/>
          <a:p>
            <a:pPr indent="0" marL="0">
              <a:buNone/>
            </a:pPr>
            <a:r>
              <a:rPr lang="en-US" sz="6600" b="1" dirty="0">
                <a:solidFill>
                  <a:srgbClr val="FFFFFF"/>
                </a:solidFill>
                <a:latin typeface="Cambria" pitchFamily="34" charset="0"/>
                <a:ea typeface="Cambria" pitchFamily="34" charset="-122"/>
                <a:cs typeface="Cambria" pitchFamily="34" charset="-120"/>
              </a:rPr>
              <a:t>Baobab</a:t>
            </a:r>
            <a:endParaRPr lang="en-US" sz="5200" dirty="0"/>
          </a:p>
        </p:txBody>
      </p:sp>
      <p:sp>
        <p:nvSpPr>
          <p:cNvPr id="4" name="Text 2"/>
          <p:cNvSpPr txBox="1"/>
          <p:nvPr/>
        </p:nvSpPr>
        <p:spPr>
          <a:xfrm>
            <a:off x="731520" y="3840480"/>
            <a:ext cx="7498079" cy="1188720"/>
          </a:xfrm>
          <a:prstGeom prst="rect">
            <a:avLst/>
          </a:prstGeom>
          <a:noFill/>
          <a:ln/>
        </p:spPr>
        <p:txBody>
          <a:bodyPr wrap="square" lIns="0" tIns="0" rIns="0" bIns="0" rtlCol="0" anchor="t"/>
          <a:lstStyle/>
          <a:p>
            <a:pPr indent="0" marL="0">
              <a:buNone/>
            </a:pPr>
            <a:r>
              <a:rPr lang="en-US" sz="2000" dirty="0">
                <a:solidFill>
                  <a:srgbClr val="BFC8D6"/>
                </a:solidFill>
                <a:latin typeface="Calibri" pitchFamily="34" charset="0"/>
                <a:ea typeface="Calibri" pitchFamily="34" charset="-122"/>
                <a:cs typeface="Calibri" pitchFamily="34" charset="-120"/>
              </a:rPr>
              <a:t>Cross-border remittances on the XRP Ledger: rand in, UCTUSD across XRPL Testnet, cash out on the other side. The fiat legs are simulated, as the brief allows.</a:t>
            </a:r>
            <a:endParaRPr lang="en-US" sz="2000" dirty="0"/>
          </a:p>
        </p:txBody>
      </p:sp>
      <p:sp>
        <p:nvSpPr>
          <p:cNvPr id="5" name="Text 3"/>
          <p:cNvSpPr txBox="1"/>
          <p:nvPr/>
        </p:nvSpPr>
        <p:spPr>
          <a:xfrm>
            <a:off x="731520" y="5760720"/>
            <a:ext cx="7315200" cy="365760"/>
          </a:xfrm>
          <a:prstGeom prst="rect">
            <a:avLst/>
          </a:prstGeom>
          <a:noFill/>
          <a:ln/>
        </p:spPr>
        <p:txBody>
          <a:bodyPr wrap="square" lIns="0" tIns="0" rIns="0" bIns="0" rtlCol="0" anchor="t"/>
          <a:lstStyle/>
          <a:p>
            <a:pPr indent="0" marL="0">
              <a:buNone/>
            </a:pPr>
            <a:r>
              <a:rPr lang="en-US" sz="1400" dirty="0">
                <a:solidFill>
                  <a:srgbClr val="BFC8D6"/>
                </a:solidFill>
                <a:latin typeface="Calibri" pitchFamily="34" charset="0"/>
                <a:ea typeface="Calibri" pitchFamily="34" charset="-122"/>
                <a:cs typeface="Calibri" pitchFamily="34" charset="-120"/>
              </a:rPr>
              <a:t>Final presentation · September 2026</a:t>
            </a:r>
            <a:endParaRPr lang="en-US" sz="1400" dirty="0"/>
          </a:p>
        </p:txBody>
      </p:sp>
      <p:pic>
        <p:nvPicPr>
          <p:cNvPr id="6" name="Picture 5" descr="tree_white.png"/>
          <p:cNvPicPr>
            <a:picLocks noChangeAspect="1"/>
          </p:cNvPicPr>
          <p:nvPr/>
        </p:nvPicPr>
        <p:blipFill>
          <a:blip r:embed="rId3"/>
          <a:stretch>
            <a:fillRect/>
          </a:stretch>
        </p:blipFill>
        <p:spPr>
          <a:xfrm>
            <a:off x="8503920" y="1463040"/>
            <a:ext cx="3108960" cy="3108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t"/>
          <a:lstStyle/>
          <a:p>
            <a:pPr indent="0" marL="0">
              <a:buNone/>
            </a:pPr>
            <a:r>
              <a:rPr lang="en-US" sz="1200" b="1" spc="300" kern="0" dirty="0">
                <a:solidFill>
                  <a:srgbClr val="0E7C68"/>
                </a:solidFill>
                <a:latin typeface="Calibri" pitchFamily="34" charset="0"/>
                <a:ea typeface="Calibri" pitchFamily="34" charset="-122"/>
                <a:cs typeface="Calibri" pitchFamily="34" charset="-120"/>
              </a:rPr>
              <a:t>BUSINESS PROBLEM</a:t>
            </a:r>
            <a:endParaRPr lang="en-US" sz="1200" dirty="0"/>
          </a:p>
        </p:txBody>
      </p:sp>
      <p:sp>
        <p:nvSpPr>
          <p:cNvPr id="3" name="Text 1"/>
          <p:cNvSpPr txBox="1"/>
          <p:nvPr/>
        </p:nvSpPr>
        <p:spPr>
          <a:xfrm>
            <a:off x="548640" y="749808"/>
            <a:ext cx="11094415" cy="685800"/>
          </a:xfrm>
          <a:prstGeom prst="rect">
            <a:avLst/>
          </a:prstGeom>
          <a:noFill/>
          <a:ln/>
        </p:spPr>
        <p:txBody>
          <a:bodyPr wrap="square" lIns="0" tIns="0" rIns="0" bIns="0" rtlCol="0" anchor="t"/>
          <a:lstStyle/>
          <a:p>
            <a:pPr indent="0" marL="0">
              <a:buNone/>
            </a:pPr>
            <a:r>
              <a:rPr lang="en-US" sz="3200" b="1" dirty="0">
                <a:solidFill>
                  <a:srgbClr val="0F1B2D"/>
                </a:solidFill>
                <a:latin typeface="Cambria" pitchFamily="34" charset="0"/>
                <a:ea typeface="Cambria" pitchFamily="34" charset="-122"/>
                <a:cs typeface="Cambria" pitchFamily="34" charset="-120"/>
              </a:rPr>
              <a:t>Sending small amounts home costs too much</a:t>
            </a:r>
            <a:endParaRPr lang="en-US" sz="3200" dirty="0"/>
          </a:p>
        </p:txBody>
      </p:sp>
      <p:sp>
        <p:nvSpPr>
          <p:cNvPr id="4" name="Text 2"/>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Baobab · Group 3</a:t>
            </a:r>
            <a:endParaRPr lang="en-US" sz="1100" dirty="0"/>
          </a:p>
        </p:txBody>
      </p:sp>
      <p:sp>
        <p:nvSpPr>
          <p:cNvPr id="5" name="Text 3"/>
          <p:cNvSpPr txBox="1"/>
          <p:nvPr/>
        </p:nvSpPr>
        <p:spPr>
          <a:xfrm>
            <a:off x="10728655" y="6355080"/>
            <a:ext cx="914400" cy="274320"/>
          </a:xfrm>
          <a:prstGeom prst="rect">
            <a:avLst/>
          </a:prstGeom>
          <a:noFill/>
          <a:ln/>
        </p:spPr>
        <p:txBody>
          <a:bodyPr wrap="square" lIns="0" tIns="0" rIns="0" bIns="0" rtlCol="0" anchor="t"/>
          <a:lstStyle/>
          <a:p>
            <a:pPr algn="r" indent="0" marL="0">
              <a:buNone/>
            </a:pPr>
            <a:r>
              <a:rPr lang="en-US" sz="1100" dirty="0">
                <a:solidFill>
                  <a:srgbClr val="5B6472"/>
                </a:solidFill>
                <a:latin typeface="Calibri" pitchFamily="34" charset="0"/>
                <a:ea typeface="Calibri" pitchFamily="34" charset="-122"/>
                <a:cs typeface="Calibri" pitchFamily="34" charset="-120"/>
              </a:rPr>
              <a:t>02</a:t>
            </a:r>
            <a:endParaRPr lang="en-US" sz="1100" dirty="0"/>
          </a:p>
        </p:txBody>
      </p:sp>
      <p:sp>
        <p:nvSpPr>
          <p:cNvPr id="6" name="Shape 4"/>
          <p:cNvSpPr/>
          <p:nvPr/>
        </p:nvSpPr>
        <p:spPr>
          <a:xfrm>
            <a:off x="548640" y="1737360"/>
            <a:ext cx="5394960" cy="4343400"/>
          </a:xfrm>
          <a:prstGeom prst="roundRect">
            <a:avLst>
              <a:gd name="adj" fmla="val 2526"/>
            </a:avLst>
          </a:prstGeom>
          <a:solidFill>
            <a:srgbClr val="0F1B2D"/>
          </a:solidFill>
          <a:ln/>
        </p:spPr>
        <p:txBody>
          <a:bodyPr/>
          <a:p/>
        </p:txBody>
      </p:sp>
      <p:sp>
        <p:nvSpPr>
          <p:cNvPr id="7" name="Text 5"/>
          <p:cNvSpPr txBox="1"/>
          <p:nvPr/>
        </p:nvSpPr>
        <p:spPr>
          <a:xfrm>
            <a:off x="960120" y="2011680"/>
            <a:ext cx="4572000" cy="1371600"/>
          </a:xfrm>
          <a:prstGeom prst="rect">
            <a:avLst/>
          </a:prstGeom>
          <a:noFill/>
          <a:ln/>
        </p:spPr>
        <p:txBody>
          <a:bodyPr wrap="square" lIns="0" tIns="0" rIns="0" bIns="0" rtlCol="0" anchor="t"/>
          <a:lstStyle/>
          <a:p>
            <a:pPr indent="0" marL="0">
              <a:buNone/>
            </a:pPr>
            <a:r>
              <a:rPr lang="en-US" sz="8800" b="1" dirty="0">
                <a:solidFill>
                  <a:srgbClr val="F2B84B"/>
                </a:solidFill>
                <a:latin typeface="Cambria" pitchFamily="34" charset="0"/>
                <a:ea typeface="Cambria" pitchFamily="34" charset="-122"/>
                <a:cs typeface="Cambria" pitchFamily="34" charset="-120"/>
              </a:rPr>
              <a:t>~16%</a:t>
            </a:r>
            <a:endParaRPr lang="en-US" sz="8800" dirty="0"/>
          </a:p>
        </p:txBody>
      </p:sp>
      <p:sp>
        <p:nvSpPr>
          <p:cNvPr id="8" name="Text 6"/>
          <p:cNvSpPr txBox="1"/>
          <p:nvPr/>
        </p:nvSpPr>
        <p:spPr>
          <a:xfrm>
            <a:off x="960120" y="3566160"/>
            <a:ext cx="4572000" cy="1188720"/>
          </a:xfrm>
          <a:prstGeom prst="rect">
            <a:avLst/>
          </a:prstGeom>
          <a:noFill/>
          <a:ln/>
        </p:spPr>
        <p:txBody>
          <a:bodyPr wrap="square" lIns="0" tIns="0" rIns="0" bIns="0" rtlCol="0" anchor="t"/>
          <a:lstStyle/>
          <a:p>
            <a:pPr indent="0" marL="0">
              <a:buNone/>
            </a:pPr>
            <a:r>
              <a:rPr lang="en-US" sz="1800" dirty="0">
                <a:solidFill>
                  <a:srgbClr val="FFFFFF"/>
                </a:solidFill>
                <a:latin typeface="Calibri" pitchFamily="34" charset="0"/>
                <a:ea typeface="Calibri" pitchFamily="34" charset="-122"/>
                <a:cs typeface="Calibri" pitchFamily="34" charset="-120"/>
              </a:rPr>
              <a:t>Western Union and MoneyGram flat fee (R214–R217) on a R1,370 send, before any exchange-rate spread.</a:t>
            </a:r>
            <a:endParaRPr lang="en-US" sz="1800" dirty="0"/>
          </a:p>
        </p:txBody>
      </p:sp>
      <p:sp>
        <p:nvSpPr>
          <p:cNvPr id="9" name="Text 7"/>
          <p:cNvSpPr txBox="1"/>
          <p:nvPr/>
        </p:nvSpPr>
        <p:spPr>
          <a:xfrm>
            <a:off x="960120" y="5349240"/>
            <a:ext cx="4572000" cy="365760"/>
          </a:xfrm>
          <a:prstGeom prst="rect">
            <a:avLst/>
          </a:prstGeom>
          <a:noFill/>
          <a:ln/>
        </p:spPr>
        <p:txBody>
          <a:bodyPr wrap="square" lIns="0" tIns="0" rIns="0" bIns="0" rtlCol="0" anchor="t"/>
          <a:lstStyle/>
          <a:p>
            <a:pPr indent="0" marL="0">
              <a:buNone/>
            </a:pPr>
            <a:r>
              <a:rPr lang="en-US" sz="1200" dirty="0">
                <a:solidFill>
                  <a:srgbClr val="BFC8D6"/>
                </a:solidFill>
                <a:latin typeface="Calibri" pitchFamily="34" charset="0"/>
                <a:ea typeface="Calibri" pitchFamily="34" charset="-122"/>
                <a:cs typeface="Calibri" pitchFamily="34" charset="-120"/>
              </a:rPr>
              <a:t>World Bank RPW, 2025 Q1, via Rateweb (2026)</a:t>
            </a:r>
            <a:endParaRPr lang="en-US" sz="1200" dirty="0"/>
          </a:p>
        </p:txBody>
      </p:sp>
      <p:sp>
        <p:nvSpPr>
          <p:cNvPr id="10" name="Shape 8"/>
          <p:cNvSpPr/>
          <p:nvPr/>
        </p:nvSpPr>
        <p:spPr>
          <a:xfrm>
            <a:off x="6400800" y="1783080"/>
            <a:ext cx="457200" cy="457200"/>
          </a:xfrm>
          <a:prstGeom prst="ellipse">
            <a:avLst/>
          </a:prstGeom>
          <a:solidFill>
            <a:srgbClr val="0E7C68"/>
          </a:solidFill>
          <a:ln/>
        </p:spPr>
        <p:txBody>
          <a:bodyPr/>
          <a:p/>
        </p:txBody>
      </p:sp>
      <p:sp>
        <p:nvSpPr>
          <p:cNvPr id="11" name="Text 9"/>
          <p:cNvSpPr txBox="1"/>
          <p:nvPr/>
        </p:nvSpPr>
        <p:spPr>
          <a:xfrm>
            <a:off x="6400800" y="17830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2" name="Text 10"/>
          <p:cNvSpPr txBox="1"/>
          <p:nvPr/>
        </p:nvSpPr>
        <p:spPr>
          <a:xfrm>
            <a:off x="7040880" y="1783080"/>
            <a:ext cx="4572000"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Expensive on small sends</a:t>
            </a:r>
            <a:endParaRPr lang="en-US" sz="1800" dirty="0"/>
          </a:p>
        </p:txBody>
      </p:sp>
      <p:sp>
        <p:nvSpPr>
          <p:cNvPr id="13" name="Text 11"/>
          <p:cNvSpPr txBox="1"/>
          <p:nvPr/>
        </p:nvSpPr>
        <p:spPr>
          <a:xfrm>
            <a:off x="7040880" y="2194560"/>
            <a:ext cx="4572000" cy="868680"/>
          </a:xfrm>
          <a:prstGeom prst="rect">
            <a:avLst/>
          </a:prstGeom>
          <a:noFill/>
          <a:ln/>
        </p:spPr>
        <p:txBody>
          <a:bodyPr wrap="square" lIns="0" tIns="0" rIns="0" bIns="0" rtlCol="0" anchor="t"/>
          <a:lstStyle/>
          <a:p>
            <a:pPr indent="0" marL="0">
              <a:buNone/>
            </a:pPr>
            <a:r>
              <a:rPr lang="en-US" sz="1500" dirty="0">
                <a:solidFill>
                  <a:srgbClr val="45505F"/>
                </a:solidFill>
                <a:latin typeface="Calibri" pitchFamily="34" charset="0"/>
                <a:ea typeface="Calibri" pitchFamily="34" charset="-122"/>
                <a:cs typeface="Calibri" pitchFamily="34" charset="-120"/>
              </a:rPr>
              <a:t>South Africa is a high-cost sending market. A flat fee hits grocery-money transfers hardest.</a:t>
            </a:r>
            <a:endParaRPr lang="en-US" sz="1500" dirty="0"/>
          </a:p>
        </p:txBody>
      </p:sp>
      <p:sp>
        <p:nvSpPr>
          <p:cNvPr id="14" name="Shape 12"/>
          <p:cNvSpPr/>
          <p:nvPr/>
        </p:nvSpPr>
        <p:spPr>
          <a:xfrm>
            <a:off x="6400800" y="3246120"/>
            <a:ext cx="457200" cy="457200"/>
          </a:xfrm>
          <a:prstGeom prst="ellipse">
            <a:avLst/>
          </a:prstGeom>
          <a:solidFill>
            <a:srgbClr val="0E7C68"/>
          </a:solidFill>
          <a:ln/>
        </p:spPr>
        <p:txBody>
          <a:bodyPr/>
          <a:p/>
        </p:txBody>
      </p:sp>
      <p:sp>
        <p:nvSpPr>
          <p:cNvPr id="15" name="Text 13"/>
          <p:cNvSpPr txBox="1"/>
          <p:nvPr/>
        </p:nvSpPr>
        <p:spPr>
          <a:xfrm>
            <a:off x="6400800" y="3246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4"/>
          <p:cNvSpPr txBox="1"/>
          <p:nvPr/>
        </p:nvSpPr>
        <p:spPr>
          <a:xfrm>
            <a:off x="7040880" y="3246120"/>
            <a:ext cx="4572000"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Cash-heavy and slow</a:t>
            </a:r>
            <a:endParaRPr lang="en-US" sz="1800" dirty="0"/>
          </a:p>
        </p:txBody>
      </p:sp>
      <p:sp>
        <p:nvSpPr>
          <p:cNvPr id="17" name="Text 15"/>
          <p:cNvSpPr txBox="1"/>
          <p:nvPr/>
        </p:nvSpPr>
        <p:spPr>
          <a:xfrm>
            <a:off x="7040880" y="3657600"/>
            <a:ext cx="4572000" cy="868680"/>
          </a:xfrm>
          <a:prstGeom prst="rect">
            <a:avLst/>
          </a:prstGeom>
          <a:noFill/>
          <a:ln/>
        </p:spPr>
        <p:txBody>
          <a:bodyPr wrap="square" lIns="0" tIns="0" rIns="0" bIns="0" rtlCol="0" anchor="t"/>
          <a:lstStyle/>
          <a:p>
            <a:pPr indent="0" marL="0">
              <a:buNone/>
            </a:pPr>
            <a:r>
              <a:rPr lang="en-US" sz="1500" dirty="0">
                <a:solidFill>
                  <a:srgbClr val="45505F"/>
                </a:solidFill>
                <a:latin typeface="Calibri" pitchFamily="34" charset="0"/>
                <a:ea typeface="Calibri" pitchFamily="34" charset="-122"/>
                <a:cs typeface="Calibri" pitchFamily="34" charset="-120"/>
              </a:rPr>
              <a:t>Agent-based cash payout dominates corridors like SA–Zimbabwe (IMF, 2025).</a:t>
            </a:r>
            <a:endParaRPr lang="en-US" sz="1500" dirty="0"/>
          </a:p>
        </p:txBody>
      </p:sp>
      <p:sp>
        <p:nvSpPr>
          <p:cNvPr id="18" name="Shape 16"/>
          <p:cNvSpPr/>
          <p:nvPr/>
        </p:nvSpPr>
        <p:spPr>
          <a:xfrm>
            <a:off x="6400800" y="4709160"/>
            <a:ext cx="457200" cy="457200"/>
          </a:xfrm>
          <a:prstGeom prst="ellipse">
            <a:avLst/>
          </a:prstGeom>
          <a:solidFill>
            <a:srgbClr val="0E7C68"/>
          </a:solidFill>
          <a:ln/>
        </p:spPr>
        <p:txBody>
          <a:bodyPr/>
          <a:p/>
        </p:txBody>
      </p:sp>
      <p:sp>
        <p:nvSpPr>
          <p:cNvPr id="19" name="Text 17"/>
          <p:cNvSpPr txBox="1"/>
          <p:nvPr/>
        </p:nvSpPr>
        <p:spPr>
          <a:xfrm>
            <a:off x="6400800" y="4709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txBox="1"/>
          <p:nvPr/>
        </p:nvSpPr>
        <p:spPr>
          <a:xfrm>
            <a:off x="7040880" y="4709160"/>
            <a:ext cx="4572000"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Price hidden until the counter</a:t>
            </a:r>
            <a:endParaRPr lang="en-US" sz="1800" dirty="0"/>
          </a:p>
        </p:txBody>
      </p:sp>
      <p:sp>
        <p:nvSpPr>
          <p:cNvPr id="21" name="Text 19"/>
          <p:cNvSpPr txBox="1"/>
          <p:nvPr/>
        </p:nvSpPr>
        <p:spPr>
          <a:xfrm>
            <a:off x="7040880" y="5120640"/>
            <a:ext cx="4572000" cy="868680"/>
          </a:xfrm>
          <a:prstGeom prst="rect">
            <a:avLst/>
          </a:prstGeom>
          <a:noFill/>
          <a:ln/>
        </p:spPr>
        <p:txBody>
          <a:bodyPr wrap="square" lIns="0" tIns="0" rIns="0" bIns="0" rtlCol="0" anchor="t"/>
          <a:lstStyle/>
          <a:p>
            <a:pPr indent="0" marL="0">
              <a:buNone/>
            </a:pPr>
            <a:r>
              <a:rPr lang="en-US" sz="1500" dirty="0">
                <a:solidFill>
                  <a:srgbClr val="45505F"/>
                </a:solidFill>
                <a:latin typeface="Calibri" pitchFamily="34" charset="0"/>
                <a:ea typeface="Calibri" pitchFamily="34" charset="-122"/>
                <a:cs typeface="Calibri" pitchFamily="34" charset="-120"/>
              </a:rPr>
              <a:t>Customers often can't see the full cost, fee plus FX spread, until they're already paying (FinMark Trust, 2024).</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t"/>
          <a:lstStyle/>
          <a:p>
            <a:pPr indent="0" marL="0">
              <a:buNone/>
            </a:pPr>
            <a:r>
              <a:rPr lang="en-US" sz="1200" b="1" spc="300" kern="0" dirty="0">
                <a:solidFill>
                  <a:srgbClr val="0E7C68"/>
                </a:solidFill>
                <a:latin typeface="Calibri" pitchFamily="34" charset="0"/>
                <a:ea typeface="Calibri" pitchFamily="34" charset="-122"/>
                <a:cs typeface="Calibri" pitchFamily="34" charset="-120"/>
              </a:rPr>
              <a:t>PROPOSED SOLUTION</a:t>
            </a:r>
            <a:endParaRPr lang="en-US" sz="1200" dirty="0"/>
          </a:p>
        </p:txBody>
      </p:sp>
      <p:sp>
        <p:nvSpPr>
          <p:cNvPr id="3" name="Text 1"/>
          <p:cNvSpPr txBox="1"/>
          <p:nvPr/>
        </p:nvSpPr>
        <p:spPr>
          <a:xfrm>
            <a:off x="548640" y="749808"/>
            <a:ext cx="11094415" cy="685800"/>
          </a:xfrm>
          <a:prstGeom prst="rect">
            <a:avLst/>
          </a:prstGeom>
          <a:noFill/>
          <a:ln/>
        </p:spPr>
        <p:txBody>
          <a:bodyPr wrap="square" lIns="0" tIns="0" rIns="0" bIns="0" rtlCol="0" anchor="t"/>
          <a:lstStyle/>
          <a:p>
            <a:pPr indent="0" marL="0">
              <a:buNone/>
            </a:pPr>
            <a:r>
              <a:rPr lang="en-US" sz="3200" b="1" dirty="0">
                <a:solidFill>
                  <a:srgbClr val="0F1B2D"/>
                </a:solidFill>
                <a:latin typeface="Cambria" pitchFamily="34" charset="0"/>
                <a:ea typeface="Cambria" pitchFamily="34" charset="-122"/>
                <a:cs typeface="Cambria" pitchFamily="34" charset="-120"/>
              </a:rPr>
              <a:t>A transparent quote, settled on the XRP Ledger</a:t>
            </a:r>
            <a:endParaRPr lang="en-US" sz="3200" dirty="0"/>
          </a:p>
        </p:txBody>
      </p:sp>
      <p:sp>
        <p:nvSpPr>
          <p:cNvPr id="4" name="Text 2"/>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Baobab · Group 3</a:t>
            </a:r>
            <a:endParaRPr lang="en-US" sz="1100" dirty="0"/>
          </a:p>
        </p:txBody>
      </p:sp>
      <p:sp>
        <p:nvSpPr>
          <p:cNvPr id="5" name="Text 3"/>
          <p:cNvSpPr txBox="1"/>
          <p:nvPr/>
        </p:nvSpPr>
        <p:spPr>
          <a:xfrm>
            <a:off x="10728655" y="6355080"/>
            <a:ext cx="914400" cy="274320"/>
          </a:xfrm>
          <a:prstGeom prst="rect">
            <a:avLst/>
          </a:prstGeom>
          <a:noFill/>
          <a:ln/>
        </p:spPr>
        <p:txBody>
          <a:bodyPr wrap="square" lIns="0" tIns="0" rIns="0" bIns="0" rtlCol="0" anchor="t"/>
          <a:lstStyle/>
          <a:p>
            <a:pPr algn="r" indent="0" marL="0">
              <a:buNone/>
            </a:pPr>
            <a:r>
              <a:rPr lang="en-US" sz="1100" dirty="0">
                <a:solidFill>
                  <a:srgbClr val="5B6472"/>
                </a:solidFill>
                <a:latin typeface="Calibri" pitchFamily="34" charset="0"/>
                <a:ea typeface="Calibri" pitchFamily="34" charset="-122"/>
                <a:cs typeface="Calibri" pitchFamily="34" charset="-120"/>
              </a:rPr>
              <a:t>03</a:t>
            </a:r>
            <a:endParaRPr lang="en-US" sz="1100" dirty="0"/>
          </a:p>
        </p:txBody>
      </p:sp>
      <p:sp>
        <p:nvSpPr>
          <p:cNvPr id="6" name="Shape 4"/>
          <p:cNvSpPr/>
          <p:nvPr/>
        </p:nvSpPr>
        <p:spPr>
          <a:xfrm>
            <a:off x="548640" y="1737360"/>
            <a:ext cx="3515258" cy="3017520"/>
          </a:xfrm>
          <a:prstGeom prst="roundRect">
            <a:avLst>
              <a:gd name="adj" fmla="val 3636"/>
            </a:avLst>
          </a:prstGeom>
          <a:solidFill>
            <a:srgbClr val="F3F5F7"/>
          </a:solidFill>
          <a:ln w="12700">
            <a:solidFill>
              <a:srgbClr val="DDE2E7"/>
            </a:solidFill>
            <a:prstDash val="solid"/>
          </a:ln>
        </p:spPr>
        <p:txBody>
          <a:bodyPr/>
          <a:p/>
        </p:txBody>
      </p:sp>
      <p:sp>
        <p:nvSpPr>
          <p:cNvPr id="7" name="Shape 5"/>
          <p:cNvSpPr/>
          <p:nvPr/>
        </p:nvSpPr>
        <p:spPr>
          <a:xfrm>
            <a:off x="868680" y="2011680"/>
            <a:ext cx="457200" cy="457200"/>
          </a:xfrm>
          <a:prstGeom prst="ellipse">
            <a:avLst/>
          </a:prstGeom>
          <a:solidFill>
            <a:srgbClr val="0E7C68"/>
          </a:solidFill>
          <a:ln/>
        </p:spPr>
        <p:txBody>
          <a:bodyPr/>
          <a:p/>
        </p:txBody>
      </p:sp>
      <p:sp>
        <p:nvSpPr>
          <p:cNvPr id="8" name="Text 6"/>
          <p:cNvSpPr txBox="1"/>
          <p:nvPr/>
        </p:nvSpPr>
        <p:spPr>
          <a:xfrm>
            <a:off x="868680"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a:t>
            </a:r>
            <a:endParaRPr lang="en-US" sz="1600" dirty="0"/>
          </a:p>
        </p:txBody>
      </p:sp>
      <p:sp>
        <p:nvSpPr>
          <p:cNvPr id="9" name="Text 7"/>
          <p:cNvSpPr txBox="1"/>
          <p:nvPr/>
        </p:nvSpPr>
        <p:spPr>
          <a:xfrm>
            <a:off x="868680" y="2697480"/>
            <a:ext cx="2875178" cy="41148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Every fee on the quote</a:t>
            </a:r>
            <a:endParaRPr lang="en-US" sz="1800" dirty="0"/>
          </a:p>
        </p:txBody>
      </p:sp>
      <p:sp>
        <p:nvSpPr>
          <p:cNvPr id="10" name="Text 8"/>
          <p:cNvSpPr txBox="1"/>
          <p:nvPr/>
        </p:nvSpPr>
        <p:spPr>
          <a:xfrm>
            <a:off x="868680" y="3200400"/>
            <a:ext cx="2875178" cy="1371600"/>
          </a:xfrm>
          <a:prstGeom prst="rect">
            <a:avLst/>
          </a:prstGeom>
          <a:noFill/>
          <a:ln/>
        </p:spPr>
        <p:txBody>
          <a:bodyPr wrap="square" lIns="0" tIns="0" rIns="0" bIns="0" rtlCol="0" anchor="t"/>
          <a:lstStyle/>
          <a:p>
            <a:pPr indent="0" marL="0">
              <a:buNone/>
            </a:pPr>
            <a:r>
              <a:rPr lang="en-US" sz="1500" dirty="0">
                <a:solidFill>
                  <a:srgbClr val="45505F"/>
                </a:solidFill>
                <a:latin typeface="Calibri" pitchFamily="34" charset="0"/>
                <a:ea typeface="Calibri" pitchFamily="34" charset="-122"/>
                <a:cs typeface="Calibri" pitchFamily="34" charset="-120"/>
              </a:rPr>
              <a:t>A fixed rand fee plus a percentage, and a published FX margin. The sender sees each part before paying.</a:t>
            </a:r>
            <a:endParaRPr lang="en-US" sz="1500" dirty="0"/>
          </a:p>
        </p:txBody>
      </p:sp>
      <p:sp>
        <p:nvSpPr>
          <p:cNvPr id="11" name="Shape 9"/>
          <p:cNvSpPr/>
          <p:nvPr/>
        </p:nvSpPr>
        <p:spPr>
          <a:xfrm>
            <a:off x="4338218" y="1737360"/>
            <a:ext cx="3515258" cy="3017520"/>
          </a:xfrm>
          <a:prstGeom prst="roundRect">
            <a:avLst>
              <a:gd name="adj" fmla="val 3636"/>
            </a:avLst>
          </a:prstGeom>
          <a:solidFill>
            <a:srgbClr val="F3F5F7"/>
          </a:solidFill>
          <a:ln w="12700">
            <a:solidFill>
              <a:srgbClr val="DDE2E7"/>
            </a:solidFill>
            <a:prstDash val="solid"/>
          </a:ln>
        </p:spPr>
        <p:txBody>
          <a:bodyPr/>
          <a:p/>
        </p:txBody>
      </p:sp>
      <p:sp>
        <p:nvSpPr>
          <p:cNvPr id="12" name="Shape 10"/>
          <p:cNvSpPr/>
          <p:nvPr/>
        </p:nvSpPr>
        <p:spPr>
          <a:xfrm>
            <a:off x="4658258" y="2011680"/>
            <a:ext cx="457200" cy="457200"/>
          </a:xfrm>
          <a:prstGeom prst="ellipse">
            <a:avLst/>
          </a:prstGeom>
          <a:solidFill>
            <a:srgbClr val="0E7C68"/>
          </a:solidFill>
          <a:ln/>
        </p:spPr>
        <p:txBody>
          <a:bodyPr/>
          <a:p/>
        </p:txBody>
      </p:sp>
      <p:sp>
        <p:nvSpPr>
          <p:cNvPr id="13" name="Text 11"/>
          <p:cNvSpPr txBox="1"/>
          <p:nvPr/>
        </p:nvSpPr>
        <p:spPr>
          <a:xfrm>
            <a:off x="4658258"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15</a:t>
            </a:r>
            <a:endParaRPr lang="en-US" sz="1600" dirty="0"/>
          </a:p>
        </p:txBody>
      </p:sp>
      <p:sp>
        <p:nvSpPr>
          <p:cNvPr id="14" name="Text 12"/>
          <p:cNvSpPr txBox="1"/>
          <p:nvPr/>
        </p:nvSpPr>
        <p:spPr>
          <a:xfrm>
            <a:off x="4658258" y="2697480"/>
            <a:ext cx="2875178" cy="41148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A 15-minute locked quote</a:t>
            </a:r>
            <a:endParaRPr lang="en-US" sz="1800" dirty="0"/>
          </a:p>
        </p:txBody>
      </p:sp>
      <p:sp>
        <p:nvSpPr>
          <p:cNvPr id="15" name="Text 13"/>
          <p:cNvSpPr txBox="1"/>
          <p:nvPr/>
        </p:nvSpPr>
        <p:spPr>
          <a:xfrm>
            <a:off x="4658258" y="3200400"/>
            <a:ext cx="2875178" cy="1371600"/>
          </a:xfrm>
          <a:prstGeom prst="rect">
            <a:avLst/>
          </a:prstGeom>
          <a:noFill/>
          <a:ln/>
        </p:spPr>
        <p:txBody>
          <a:bodyPr wrap="square" lIns="0" tIns="0" rIns="0" bIns="0" rtlCol="0" anchor="t"/>
          <a:lstStyle/>
          <a:p>
            <a:pPr indent="0" marL="0">
              <a:buNone/>
            </a:pPr>
            <a:r>
              <a:rPr lang="en-US" sz="1500" dirty="0">
                <a:solidFill>
                  <a:srgbClr val="45505F"/>
                </a:solidFill>
                <a:latin typeface="Calibri" pitchFamily="34" charset="0"/>
                <a:ea typeface="Calibri" pitchFamily="34" charset="-122"/>
                <a:cs typeface="Calibri" pitchFamily="34" charset="-120"/>
              </a:rPr>
              <a:t>The price holds for 15 minutes. Cancelled or expired quotes stop counting against the sender's limits.</a:t>
            </a:r>
            <a:endParaRPr lang="en-US" sz="1500" dirty="0"/>
          </a:p>
        </p:txBody>
      </p:sp>
      <p:sp>
        <p:nvSpPr>
          <p:cNvPr id="16" name="Shape 14"/>
          <p:cNvSpPr/>
          <p:nvPr/>
        </p:nvSpPr>
        <p:spPr>
          <a:xfrm>
            <a:off x="8127797" y="1737360"/>
            <a:ext cx="3515258" cy="3017520"/>
          </a:xfrm>
          <a:prstGeom prst="roundRect">
            <a:avLst>
              <a:gd name="adj" fmla="val 3636"/>
            </a:avLst>
          </a:prstGeom>
          <a:solidFill>
            <a:srgbClr val="F3F5F7"/>
          </a:solidFill>
          <a:ln w="12700">
            <a:solidFill>
              <a:srgbClr val="DDE2E7"/>
            </a:solidFill>
            <a:prstDash val="solid"/>
          </a:ln>
        </p:spPr>
        <p:txBody>
          <a:bodyPr/>
          <a:p/>
        </p:txBody>
      </p:sp>
      <p:sp>
        <p:nvSpPr>
          <p:cNvPr id="17" name="Shape 15"/>
          <p:cNvSpPr/>
          <p:nvPr/>
        </p:nvSpPr>
        <p:spPr>
          <a:xfrm>
            <a:off x="8447837" y="2011680"/>
            <a:ext cx="457200" cy="457200"/>
          </a:xfrm>
          <a:prstGeom prst="ellipse">
            <a:avLst/>
          </a:prstGeom>
          <a:solidFill>
            <a:srgbClr val="0E7C68"/>
          </a:solidFill>
          <a:ln/>
        </p:spPr>
        <p:txBody>
          <a:bodyPr/>
          <a:p/>
        </p:txBody>
      </p:sp>
      <p:sp>
        <p:nvSpPr>
          <p:cNvPr id="18" name="Text 16"/>
          <p:cNvSpPr txBox="1"/>
          <p:nvPr/>
        </p:nvSpPr>
        <p:spPr>
          <a:xfrm>
            <a:off x="8447837"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9" name="Text 17"/>
          <p:cNvSpPr txBox="1"/>
          <p:nvPr/>
        </p:nvSpPr>
        <p:spPr>
          <a:xfrm>
            <a:off x="8447837" y="2697480"/>
            <a:ext cx="2875178" cy="41148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A payment you can look up</a:t>
            </a:r>
            <a:endParaRPr lang="en-US" sz="1800" dirty="0"/>
          </a:p>
        </p:txBody>
      </p:sp>
      <p:sp>
        <p:nvSpPr>
          <p:cNvPr id="20" name="Text 18"/>
          <p:cNvSpPr txBox="1"/>
          <p:nvPr/>
        </p:nvSpPr>
        <p:spPr>
          <a:xfrm>
            <a:off x="8447837" y="3200400"/>
            <a:ext cx="2875178" cy="1371600"/>
          </a:xfrm>
          <a:prstGeom prst="rect">
            <a:avLst/>
          </a:prstGeom>
          <a:noFill/>
          <a:ln/>
        </p:spPr>
        <p:txBody>
          <a:bodyPr wrap="square" lIns="0" tIns="0" rIns="0" bIns="0" rtlCol="0" anchor="t"/>
          <a:lstStyle/>
          <a:p>
            <a:pPr indent="0" marL="0">
              <a:buNone/>
            </a:pPr>
            <a:r>
              <a:rPr lang="en-US" sz="1500" dirty="0">
                <a:solidFill>
                  <a:srgbClr val="45505F"/>
                </a:solidFill>
                <a:latin typeface="Calibri" pitchFamily="34" charset="0"/>
                <a:ea typeface="Calibri" pitchFamily="34" charset="-122"/>
                <a:cs typeface="Calibri" pitchFamily="34" charset="-120"/>
              </a:rPr>
              <a:t>Each payout is a real XRPL Testnet Payment. The recipient gets its transaction hash.</a:t>
            </a:r>
            <a:endParaRPr lang="en-US" sz="1500" dirty="0"/>
          </a:p>
        </p:txBody>
      </p:sp>
      <p:sp>
        <p:nvSpPr>
          <p:cNvPr id="21" name="Shape 19"/>
          <p:cNvSpPr/>
          <p:nvPr/>
        </p:nvSpPr>
        <p:spPr>
          <a:xfrm>
            <a:off x="548640" y="5029200"/>
            <a:ext cx="11094415" cy="914400"/>
          </a:xfrm>
          <a:prstGeom prst="roundRect">
            <a:avLst>
              <a:gd name="adj" fmla="val 12000"/>
            </a:avLst>
          </a:prstGeom>
          <a:solidFill>
            <a:srgbClr val="E3F1ED"/>
          </a:solidFill>
          <a:ln/>
        </p:spPr>
        <p:txBody>
          <a:bodyPr/>
          <a:p/>
        </p:txBody>
      </p:sp>
      <p:sp>
        <p:nvSpPr>
          <p:cNvPr id="22" name="Text 20"/>
          <p:cNvSpPr txBox="1"/>
          <p:nvPr/>
        </p:nvSpPr>
        <p:spPr>
          <a:xfrm>
            <a:off x="868680" y="5029200"/>
            <a:ext cx="10454335" cy="914400"/>
          </a:xfrm>
          <a:prstGeom prst="rect">
            <a:avLst/>
          </a:prstGeom>
          <a:noFill/>
          <a:ln/>
        </p:spPr>
        <p:txBody>
          <a:bodyPr wrap="square" lIns="0" tIns="0" rIns="0" bIns="0" rtlCol="0" anchor="ctr"/>
          <a:lstStyle/>
          <a:p>
            <a:pPr indent="0" marL="0">
              <a:buNone/>
            </a:pPr>
            <a:r>
              <a:rPr lang="en-US" sz="1500" b="1" dirty="0">
                <a:solidFill>
                  <a:srgbClr val="1B2433"/>
                </a:solidFill>
                <a:latin typeface="Calibri" pitchFamily="34" charset="0"/>
                <a:ea typeface="Calibri" pitchFamily="34" charset="-122"/>
                <a:cs typeface="Calibri" pitchFamily="34" charset="-120"/>
              </a:rPr>
              <a:t>Settlement asset: </a:t>
            </a:r>
            <a:pPr indent="0" marL="0">
              <a:buNone/>
            </a:pPr>
            <a:r>
              <a:rPr lang="en-US" sz="1500" dirty="0">
                <a:solidFill>
                  <a:srgbClr val="1B2433"/>
                </a:solidFill>
                <a:latin typeface="Calibri" pitchFamily="34" charset="0"/>
                <a:ea typeface="Calibri" pitchFamily="34" charset="-122"/>
                <a:cs typeface="Calibri" pitchFamily="34" charset="-120"/>
              </a:rPr>
              <a:t>UCTUSD, the course's issued token, on XRPL Testnet. Switching to official RLUSD is a config change. Cash-in and cash-out are simulated.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t"/>
          <a:lstStyle/>
          <a:p>
            <a:pPr indent="0" marL="0">
              <a:buNone/>
            </a:pPr>
            <a:r>
              <a:rPr lang="en-US" sz="1200" b="1" spc="300" kern="0" dirty="0">
                <a:solidFill>
                  <a:srgbClr val="0E7C68"/>
                </a:solidFill>
                <a:latin typeface="Calibri" pitchFamily="34" charset="0"/>
                <a:ea typeface="Calibri" pitchFamily="34" charset="-122"/>
                <a:cs typeface="Calibri" pitchFamily="34" charset="-120"/>
              </a:rPr>
              <a:t>USER JOURNEY</a:t>
            </a:r>
            <a:endParaRPr lang="en-US" sz="1200" dirty="0"/>
          </a:p>
        </p:txBody>
      </p:sp>
      <p:sp>
        <p:nvSpPr>
          <p:cNvPr id="3" name="Text 1"/>
          <p:cNvSpPr txBox="1"/>
          <p:nvPr/>
        </p:nvSpPr>
        <p:spPr>
          <a:xfrm>
            <a:off x="548640" y="749808"/>
            <a:ext cx="11094415" cy="685800"/>
          </a:xfrm>
          <a:prstGeom prst="rect">
            <a:avLst/>
          </a:prstGeom>
          <a:noFill/>
          <a:ln/>
        </p:spPr>
        <p:txBody>
          <a:bodyPr wrap="square" lIns="0" tIns="0" rIns="0" bIns="0" rtlCol="0" anchor="t"/>
          <a:lstStyle/>
          <a:p>
            <a:pPr indent="0" marL="0">
              <a:buNone/>
            </a:pPr>
            <a:r>
              <a:rPr lang="en-US" sz="3200" b="1" dirty="0">
                <a:solidFill>
                  <a:srgbClr val="0F1B2D"/>
                </a:solidFill>
                <a:latin typeface="Cambria" pitchFamily="34" charset="0"/>
                <a:ea typeface="Cambria" pitchFamily="34" charset="-122"/>
                <a:cs typeface="Cambria" pitchFamily="34" charset="-120"/>
              </a:rPr>
              <a:t>Nine steps from sign-up to cash-out</a:t>
            </a:r>
            <a:endParaRPr lang="en-US" sz="3200" dirty="0"/>
          </a:p>
        </p:txBody>
      </p:sp>
      <p:sp>
        <p:nvSpPr>
          <p:cNvPr id="4" name="Text 2"/>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Baobab · Group 3</a:t>
            </a:r>
            <a:endParaRPr lang="en-US" sz="1100" dirty="0"/>
          </a:p>
        </p:txBody>
      </p:sp>
      <p:sp>
        <p:nvSpPr>
          <p:cNvPr id="5" name="Text 3"/>
          <p:cNvSpPr txBox="1"/>
          <p:nvPr/>
        </p:nvSpPr>
        <p:spPr>
          <a:xfrm>
            <a:off x="10728655" y="6355080"/>
            <a:ext cx="914400" cy="274320"/>
          </a:xfrm>
          <a:prstGeom prst="rect">
            <a:avLst/>
          </a:prstGeom>
          <a:noFill/>
          <a:ln/>
        </p:spPr>
        <p:txBody>
          <a:bodyPr wrap="square" lIns="0" tIns="0" rIns="0" bIns="0" rtlCol="0" anchor="t"/>
          <a:lstStyle/>
          <a:p>
            <a:pPr algn="r" indent="0" marL="0">
              <a:buNone/>
            </a:pPr>
            <a:r>
              <a:rPr lang="en-US" sz="1100" dirty="0">
                <a:solidFill>
                  <a:srgbClr val="5B6472"/>
                </a:solidFill>
                <a:latin typeface="Calibri" pitchFamily="34" charset="0"/>
                <a:ea typeface="Calibri" pitchFamily="34" charset="-122"/>
                <a:cs typeface="Calibri" pitchFamily="34" charset="-120"/>
              </a:rPr>
              <a:t>04</a:t>
            </a:r>
            <a:endParaRPr lang="en-US" sz="1100" dirty="0"/>
          </a:p>
        </p:txBody>
      </p:sp>
      <p:sp>
        <p:nvSpPr>
          <p:cNvPr id="6" name="Shape 4"/>
          <p:cNvSpPr/>
          <p:nvPr/>
        </p:nvSpPr>
        <p:spPr>
          <a:xfrm>
            <a:off x="548640" y="1691640"/>
            <a:ext cx="3515258" cy="1325880"/>
          </a:xfrm>
          <a:prstGeom prst="roundRect">
            <a:avLst>
              <a:gd name="adj" fmla="val 8276"/>
            </a:avLst>
          </a:prstGeom>
          <a:solidFill>
            <a:srgbClr val="F3F5F7"/>
          </a:solidFill>
          <a:ln w="12700">
            <a:solidFill>
              <a:srgbClr val="DDE2E7"/>
            </a:solidFill>
            <a:prstDash val="solid"/>
          </a:ln>
        </p:spPr>
        <p:txBody>
          <a:bodyPr/>
          <a:p/>
        </p:txBody>
      </p:sp>
      <p:sp>
        <p:nvSpPr>
          <p:cNvPr id="7" name="Text 5"/>
          <p:cNvSpPr txBox="1"/>
          <p:nvPr/>
        </p:nvSpPr>
        <p:spPr>
          <a:xfrm>
            <a:off x="822960" y="1874520"/>
            <a:ext cx="2966618" cy="274320"/>
          </a:xfrm>
          <a:prstGeom prst="rect">
            <a:avLst/>
          </a:prstGeom>
          <a:noFill/>
          <a:ln/>
        </p:spPr>
        <p:txBody>
          <a:bodyPr wrap="square" lIns="0" tIns="0" rIns="0" bIns="0" rtlCol="0" anchor="t"/>
          <a:lstStyle/>
          <a:p>
            <a:pPr indent="0" marL="0">
              <a:buNone/>
            </a:pPr>
            <a:r>
              <a:rPr lang="en-US" sz="1100" b="1" dirty="0">
                <a:solidFill>
                  <a:srgbClr val="0E7C68"/>
                </a:solidFill>
                <a:latin typeface="Calibri" pitchFamily="34" charset="0"/>
                <a:ea typeface="Calibri" pitchFamily="34" charset="-122"/>
                <a:cs typeface="Calibri" pitchFamily="34" charset="-120"/>
              </a:rPr>
              <a:t>1 · SENDER</a:t>
            </a:r>
            <a:endParaRPr lang="en-US" sz="1100" dirty="0"/>
          </a:p>
        </p:txBody>
      </p:sp>
      <p:sp>
        <p:nvSpPr>
          <p:cNvPr id="8" name="Text 6"/>
          <p:cNvSpPr txBox="1"/>
          <p:nvPr/>
        </p:nvSpPr>
        <p:spPr>
          <a:xfrm>
            <a:off x="822960" y="2148840"/>
            <a:ext cx="2966618" cy="365760"/>
          </a:xfrm>
          <a:prstGeom prst="rect">
            <a:avLst/>
          </a:prstGeom>
          <a:noFill/>
          <a:ln/>
        </p:spPr>
        <p:txBody>
          <a:bodyPr wrap="square" lIns="0" tIns="0" rIns="0" bIns="0" rtlCol="0" anchor="t"/>
          <a:lstStyle/>
          <a:p>
            <a:pPr indent="0" marL="0">
              <a:buNone/>
            </a:pPr>
            <a:r>
              <a:rPr lang="en-US" sz="1700" b="1" dirty="0">
                <a:solidFill>
                  <a:srgbClr val="0F1B2D"/>
                </a:solidFill>
                <a:latin typeface="Calibri" pitchFamily="34" charset="0"/>
                <a:ea typeface="Calibri" pitchFamily="34" charset="-122"/>
                <a:cs typeface="Calibri" pitchFamily="34" charset="-120"/>
              </a:rPr>
              <a:t>Register and log in</a:t>
            </a:r>
            <a:endParaRPr lang="en-US" sz="1700" dirty="0"/>
          </a:p>
        </p:txBody>
      </p:sp>
      <p:sp>
        <p:nvSpPr>
          <p:cNvPr id="9" name="Text 7"/>
          <p:cNvSpPr txBox="1"/>
          <p:nvPr/>
        </p:nvSpPr>
        <p:spPr>
          <a:xfrm>
            <a:off x="822960" y="2560320"/>
            <a:ext cx="2966618" cy="320040"/>
          </a:xfrm>
          <a:prstGeom prst="rect">
            <a:avLst/>
          </a:prstGeom>
          <a:noFill/>
          <a:ln/>
        </p:spPr>
        <p:txBody>
          <a:bodyPr wrap="square" lIns="0" tIns="0" rIns="0" bIns="0" rtlCol="0" anchor="t"/>
          <a:lstStyle/>
          <a:p>
            <a:pPr indent="0" marL="0">
              <a:buNone/>
            </a:pPr>
            <a:r>
              <a:rPr lang="en-US" sz="1300" dirty="0">
                <a:solidFill>
                  <a:srgbClr val="45505F"/>
                </a:solidFill>
                <a:latin typeface="Calibri" pitchFamily="34" charset="0"/>
                <a:ea typeface="Calibri" pitchFamily="34" charset="-122"/>
                <a:cs typeface="Calibri" pitchFamily="34" charset="-120"/>
              </a:rPr>
              <a:t>One account sends and receives</a:t>
            </a:r>
            <a:endParaRPr lang="en-US" sz="1300" dirty="0"/>
          </a:p>
        </p:txBody>
      </p:sp>
      <p:sp>
        <p:nvSpPr>
          <p:cNvPr id="10" name="Shape 8"/>
          <p:cNvSpPr/>
          <p:nvPr/>
        </p:nvSpPr>
        <p:spPr>
          <a:xfrm>
            <a:off x="4338218" y="1691640"/>
            <a:ext cx="3515258" cy="1325880"/>
          </a:xfrm>
          <a:prstGeom prst="roundRect">
            <a:avLst>
              <a:gd name="adj" fmla="val 8276"/>
            </a:avLst>
          </a:prstGeom>
          <a:solidFill>
            <a:srgbClr val="F3F5F7"/>
          </a:solidFill>
          <a:ln w="12700">
            <a:solidFill>
              <a:srgbClr val="DDE2E7"/>
            </a:solidFill>
            <a:prstDash val="solid"/>
          </a:ln>
        </p:spPr>
        <p:txBody>
          <a:bodyPr/>
          <a:p/>
        </p:txBody>
      </p:sp>
      <p:sp>
        <p:nvSpPr>
          <p:cNvPr id="11" name="Text 9"/>
          <p:cNvSpPr txBox="1"/>
          <p:nvPr/>
        </p:nvSpPr>
        <p:spPr>
          <a:xfrm>
            <a:off x="4612538" y="1874520"/>
            <a:ext cx="2966618" cy="274320"/>
          </a:xfrm>
          <a:prstGeom prst="rect">
            <a:avLst/>
          </a:prstGeom>
          <a:noFill/>
          <a:ln/>
        </p:spPr>
        <p:txBody>
          <a:bodyPr wrap="square" lIns="0" tIns="0" rIns="0" bIns="0" rtlCol="0" anchor="t"/>
          <a:lstStyle/>
          <a:p>
            <a:pPr indent="0" marL="0">
              <a:buNone/>
            </a:pPr>
            <a:r>
              <a:rPr lang="en-US" sz="1100" b="1" dirty="0">
                <a:solidFill>
                  <a:srgbClr val="0E7C68"/>
                </a:solidFill>
                <a:latin typeface="Calibri" pitchFamily="34" charset="0"/>
                <a:ea typeface="Calibri" pitchFamily="34" charset="-122"/>
                <a:cs typeface="Calibri" pitchFamily="34" charset="-120"/>
              </a:rPr>
              <a:t>2 · SENDER</a:t>
            </a:r>
            <a:endParaRPr lang="en-US" sz="1100" dirty="0"/>
          </a:p>
        </p:txBody>
      </p:sp>
      <p:sp>
        <p:nvSpPr>
          <p:cNvPr id="12" name="Text 10"/>
          <p:cNvSpPr txBox="1"/>
          <p:nvPr/>
        </p:nvSpPr>
        <p:spPr>
          <a:xfrm>
            <a:off x="4612538" y="2148840"/>
            <a:ext cx="2966618" cy="365760"/>
          </a:xfrm>
          <a:prstGeom prst="rect">
            <a:avLst/>
          </a:prstGeom>
          <a:noFill/>
          <a:ln/>
        </p:spPr>
        <p:txBody>
          <a:bodyPr wrap="square" lIns="0" tIns="0" rIns="0" bIns="0" rtlCol="0" anchor="t"/>
          <a:lstStyle/>
          <a:p>
            <a:pPr indent="0" marL="0">
              <a:buNone/>
            </a:pPr>
            <a:r>
              <a:rPr lang="en-US" sz="1700" b="1" dirty="0">
                <a:solidFill>
                  <a:srgbClr val="0F1B2D"/>
                </a:solidFill>
                <a:latin typeface="Calibri" pitchFamily="34" charset="0"/>
                <a:ea typeface="Calibri" pitchFamily="34" charset="-122"/>
                <a:cs typeface="Calibri" pitchFamily="34" charset="-120"/>
              </a:rPr>
              <a:t>Submit KYC</a:t>
            </a:r>
            <a:endParaRPr lang="en-US" sz="1700" dirty="0"/>
          </a:p>
        </p:txBody>
      </p:sp>
      <p:sp>
        <p:nvSpPr>
          <p:cNvPr id="13" name="Text 11"/>
          <p:cNvSpPr txBox="1"/>
          <p:nvPr/>
        </p:nvSpPr>
        <p:spPr>
          <a:xfrm>
            <a:off x="4612538" y="2560320"/>
            <a:ext cx="2966618" cy="320040"/>
          </a:xfrm>
          <a:prstGeom prst="rect">
            <a:avLst/>
          </a:prstGeom>
          <a:noFill/>
          <a:ln/>
        </p:spPr>
        <p:txBody>
          <a:bodyPr wrap="square" lIns="0" tIns="0" rIns="0" bIns="0" rtlCol="0" anchor="t"/>
          <a:lstStyle/>
          <a:p>
            <a:pPr indent="0" marL="0">
              <a:buNone/>
            </a:pPr>
            <a:r>
              <a:rPr lang="en-US" sz="1300" dirty="0">
                <a:solidFill>
                  <a:srgbClr val="45505F"/>
                </a:solidFill>
                <a:latin typeface="Calibri" pitchFamily="34" charset="0"/>
                <a:ea typeface="Calibri" pitchFamily="34" charset="-122"/>
                <a:cs typeface="Calibri" pitchFamily="34" charset="-120"/>
              </a:rPr>
              <a:t>Mock KYC, ID number encrypted</a:t>
            </a:r>
            <a:endParaRPr lang="en-US" sz="1300" dirty="0"/>
          </a:p>
        </p:txBody>
      </p:sp>
      <p:sp>
        <p:nvSpPr>
          <p:cNvPr id="14" name="Shape 12"/>
          <p:cNvSpPr/>
          <p:nvPr/>
        </p:nvSpPr>
        <p:spPr>
          <a:xfrm>
            <a:off x="8127797" y="1691640"/>
            <a:ext cx="3515258" cy="1325880"/>
          </a:xfrm>
          <a:prstGeom prst="roundRect">
            <a:avLst>
              <a:gd name="adj" fmla="val 8276"/>
            </a:avLst>
          </a:prstGeom>
          <a:solidFill>
            <a:srgbClr val="F3F5F7"/>
          </a:solidFill>
          <a:ln w="12700">
            <a:solidFill>
              <a:srgbClr val="DDE2E7"/>
            </a:solidFill>
            <a:prstDash val="solid"/>
          </a:ln>
        </p:spPr>
        <p:txBody>
          <a:bodyPr/>
          <a:p/>
        </p:txBody>
      </p:sp>
      <p:sp>
        <p:nvSpPr>
          <p:cNvPr id="15" name="Text 13"/>
          <p:cNvSpPr txBox="1"/>
          <p:nvPr/>
        </p:nvSpPr>
        <p:spPr>
          <a:xfrm>
            <a:off x="8402117" y="1874520"/>
            <a:ext cx="2966618" cy="274320"/>
          </a:xfrm>
          <a:prstGeom prst="rect">
            <a:avLst/>
          </a:prstGeom>
          <a:noFill/>
          <a:ln/>
        </p:spPr>
        <p:txBody>
          <a:bodyPr wrap="square" lIns="0" tIns="0" rIns="0" bIns="0" rtlCol="0" anchor="t"/>
          <a:lstStyle/>
          <a:p>
            <a:pPr indent="0" marL="0">
              <a:buNone/>
            </a:pPr>
            <a:r>
              <a:rPr lang="en-US" sz="1100" b="1" dirty="0">
                <a:solidFill>
                  <a:srgbClr val="8A5A00"/>
                </a:solidFill>
                <a:latin typeface="Calibri" pitchFamily="34" charset="0"/>
                <a:ea typeface="Calibri" pitchFamily="34" charset="-122"/>
                <a:cs typeface="Calibri" pitchFamily="34" charset="-120"/>
              </a:rPr>
              <a:t>3 · ADMIN</a:t>
            </a:r>
            <a:endParaRPr lang="en-US" sz="1100" dirty="0"/>
          </a:p>
        </p:txBody>
      </p:sp>
      <p:sp>
        <p:nvSpPr>
          <p:cNvPr id="16" name="Text 14"/>
          <p:cNvSpPr txBox="1"/>
          <p:nvPr/>
        </p:nvSpPr>
        <p:spPr>
          <a:xfrm>
            <a:off x="8402117" y="2148840"/>
            <a:ext cx="2966618" cy="365760"/>
          </a:xfrm>
          <a:prstGeom prst="rect">
            <a:avLst/>
          </a:prstGeom>
          <a:noFill/>
          <a:ln/>
        </p:spPr>
        <p:txBody>
          <a:bodyPr wrap="square" lIns="0" tIns="0" rIns="0" bIns="0" rtlCol="0" anchor="t"/>
          <a:lstStyle/>
          <a:p>
            <a:pPr indent="0" marL="0">
              <a:buNone/>
            </a:pPr>
            <a:r>
              <a:rPr lang="en-US" sz="1700" b="1" dirty="0">
                <a:solidFill>
                  <a:srgbClr val="0F1B2D"/>
                </a:solidFill>
                <a:latin typeface="Calibri" pitchFamily="34" charset="0"/>
                <a:ea typeface="Calibri" pitchFamily="34" charset="-122"/>
                <a:cs typeface="Calibri" pitchFamily="34" charset="-120"/>
              </a:rPr>
              <a:t>Approve KYC</a:t>
            </a:r>
            <a:endParaRPr lang="en-US" sz="1700" dirty="0"/>
          </a:p>
        </p:txBody>
      </p:sp>
      <p:sp>
        <p:nvSpPr>
          <p:cNvPr id="17" name="Text 15"/>
          <p:cNvSpPr txBox="1"/>
          <p:nvPr/>
        </p:nvSpPr>
        <p:spPr>
          <a:xfrm>
            <a:off x="8402117" y="2560320"/>
            <a:ext cx="2966618" cy="320040"/>
          </a:xfrm>
          <a:prstGeom prst="rect">
            <a:avLst/>
          </a:prstGeom>
          <a:noFill/>
          <a:ln/>
        </p:spPr>
        <p:txBody>
          <a:bodyPr wrap="square" lIns="0" tIns="0" rIns="0" bIns="0" rtlCol="0" anchor="t"/>
          <a:lstStyle/>
          <a:p>
            <a:pPr indent="0" marL="0">
              <a:buNone/>
            </a:pPr>
            <a:r>
              <a:rPr lang="en-US" sz="1300" dirty="0">
                <a:solidFill>
                  <a:srgbClr val="45505F"/>
                </a:solidFill>
                <a:latin typeface="Calibri" pitchFamily="34" charset="0"/>
                <a:ea typeface="Calibri" pitchFamily="34" charset="-122"/>
                <a:cs typeface="Calibri" pitchFamily="34" charset="-120"/>
              </a:rPr>
              <a:t>Unapproved senders can't quote</a:t>
            </a:r>
            <a:endParaRPr lang="en-US" sz="1300" dirty="0"/>
          </a:p>
        </p:txBody>
      </p:sp>
      <p:sp>
        <p:nvSpPr>
          <p:cNvPr id="18" name="Shape 16"/>
          <p:cNvSpPr/>
          <p:nvPr/>
        </p:nvSpPr>
        <p:spPr>
          <a:xfrm>
            <a:off x="548640" y="3200400"/>
            <a:ext cx="3515258" cy="1325880"/>
          </a:xfrm>
          <a:prstGeom prst="roundRect">
            <a:avLst>
              <a:gd name="adj" fmla="val 8276"/>
            </a:avLst>
          </a:prstGeom>
          <a:solidFill>
            <a:srgbClr val="F3F5F7"/>
          </a:solidFill>
          <a:ln w="12700">
            <a:solidFill>
              <a:srgbClr val="DDE2E7"/>
            </a:solidFill>
            <a:prstDash val="solid"/>
          </a:ln>
        </p:spPr>
        <p:txBody>
          <a:bodyPr/>
          <a:p/>
        </p:txBody>
      </p:sp>
      <p:sp>
        <p:nvSpPr>
          <p:cNvPr id="19" name="Text 17"/>
          <p:cNvSpPr txBox="1"/>
          <p:nvPr/>
        </p:nvSpPr>
        <p:spPr>
          <a:xfrm>
            <a:off x="822960" y="3383280"/>
            <a:ext cx="2966618" cy="274320"/>
          </a:xfrm>
          <a:prstGeom prst="rect">
            <a:avLst/>
          </a:prstGeom>
          <a:noFill/>
          <a:ln/>
        </p:spPr>
        <p:txBody>
          <a:bodyPr wrap="square" lIns="0" tIns="0" rIns="0" bIns="0" rtlCol="0" anchor="t"/>
          <a:lstStyle/>
          <a:p>
            <a:pPr indent="0" marL="0">
              <a:buNone/>
            </a:pPr>
            <a:r>
              <a:rPr lang="en-US" sz="1100" b="1" dirty="0">
                <a:solidFill>
                  <a:srgbClr val="0E7C68"/>
                </a:solidFill>
                <a:latin typeface="Calibri" pitchFamily="34" charset="0"/>
                <a:ea typeface="Calibri" pitchFamily="34" charset="-122"/>
                <a:cs typeface="Calibri" pitchFamily="34" charset="-120"/>
              </a:rPr>
              <a:t>4 · SENDER</a:t>
            </a:r>
            <a:endParaRPr lang="en-US" sz="1100" dirty="0"/>
          </a:p>
        </p:txBody>
      </p:sp>
      <p:sp>
        <p:nvSpPr>
          <p:cNvPr id="20" name="Text 18"/>
          <p:cNvSpPr txBox="1"/>
          <p:nvPr/>
        </p:nvSpPr>
        <p:spPr>
          <a:xfrm>
            <a:off x="822960" y="3657600"/>
            <a:ext cx="2966618" cy="365760"/>
          </a:xfrm>
          <a:prstGeom prst="rect">
            <a:avLst/>
          </a:prstGeom>
          <a:noFill/>
          <a:ln/>
        </p:spPr>
        <p:txBody>
          <a:bodyPr wrap="square" lIns="0" tIns="0" rIns="0" bIns="0" rtlCol="0" anchor="t"/>
          <a:lstStyle/>
          <a:p>
            <a:pPr indent="0" marL="0">
              <a:buNone/>
            </a:pPr>
            <a:r>
              <a:rPr lang="en-US" sz="1700" b="1" dirty="0">
                <a:solidFill>
                  <a:srgbClr val="0F1B2D"/>
                </a:solidFill>
                <a:latin typeface="Calibri" pitchFamily="34" charset="0"/>
                <a:ea typeface="Calibri" pitchFamily="34" charset="-122"/>
                <a:cs typeface="Calibri" pitchFamily="34" charset="-120"/>
              </a:rPr>
              <a:t>Add a beneficiary</a:t>
            </a:r>
            <a:endParaRPr lang="en-US" sz="1700" dirty="0"/>
          </a:p>
        </p:txBody>
      </p:sp>
      <p:sp>
        <p:nvSpPr>
          <p:cNvPr id="21" name="Text 19"/>
          <p:cNvSpPr txBox="1"/>
          <p:nvPr/>
        </p:nvSpPr>
        <p:spPr>
          <a:xfrm>
            <a:off x="822960" y="4069080"/>
            <a:ext cx="2966618" cy="320040"/>
          </a:xfrm>
          <a:prstGeom prst="rect">
            <a:avLst/>
          </a:prstGeom>
          <a:noFill/>
          <a:ln/>
        </p:spPr>
        <p:txBody>
          <a:bodyPr wrap="square" lIns="0" tIns="0" rIns="0" bIns="0" rtlCol="0" anchor="t"/>
          <a:lstStyle/>
          <a:p>
            <a:pPr indent="0" marL="0">
              <a:buNone/>
            </a:pPr>
            <a:r>
              <a:rPr lang="en-US" sz="1300" dirty="0">
                <a:solidFill>
                  <a:srgbClr val="45505F"/>
                </a:solidFill>
                <a:latin typeface="Calibri" pitchFamily="34" charset="0"/>
                <a:ea typeface="Calibri" pitchFamily="34" charset="-122"/>
                <a:cs typeface="Calibri" pitchFamily="34" charset="-120"/>
              </a:rPr>
              <a:t>Auto-links on mobile or email</a:t>
            </a:r>
            <a:endParaRPr lang="en-US" sz="1300" dirty="0"/>
          </a:p>
        </p:txBody>
      </p:sp>
      <p:sp>
        <p:nvSpPr>
          <p:cNvPr id="22" name="Shape 20"/>
          <p:cNvSpPr/>
          <p:nvPr/>
        </p:nvSpPr>
        <p:spPr>
          <a:xfrm>
            <a:off x="4338218" y="3200400"/>
            <a:ext cx="3515258" cy="1325880"/>
          </a:xfrm>
          <a:prstGeom prst="roundRect">
            <a:avLst>
              <a:gd name="adj" fmla="val 8276"/>
            </a:avLst>
          </a:prstGeom>
          <a:solidFill>
            <a:srgbClr val="F3F5F7"/>
          </a:solidFill>
          <a:ln w="12700">
            <a:solidFill>
              <a:srgbClr val="DDE2E7"/>
            </a:solidFill>
            <a:prstDash val="solid"/>
          </a:ln>
        </p:spPr>
        <p:txBody>
          <a:bodyPr/>
          <a:p/>
        </p:txBody>
      </p:sp>
      <p:sp>
        <p:nvSpPr>
          <p:cNvPr id="23" name="Text 21"/>
          <p:cNvSpPr txBox="1"/>
          <p:nvPr/>
        </p:nvSpPr>
        <p:spPr>
          <a:xfrm>
            <a:off x="4612538" y="3383280"/>
            <a:ext cx="2966618" cy="274320"/>
          </a:xfrm>
          <a:prstGeom prst="rect">
            <a:avLst/>
          </a:prstGeom>
          <a:noFill/>
          <a:ln/>
        </p:spPr>
        <p:txBody>
          <a:bodyPr wrap="square" lIns="0" tIns="0" rIns="0" bIns="0" rtlCol="0" anchor="t"/>
          <a:lstStyle/>
          <a:p>
            <a:pPr indent="0" marL="0">
              <a:buNone/>
            </a:pPr>
            <a:r>
              <a:rPr lang="en-US" sz="1100" b="1" dirty="0">
                <a:solidFill>
                  <a:srgbClr val="0E7C68"/>
                </a:solidFill>
                <a:latin typeface="Calibri" pitchFamily="34" charset="0"/>
                <a:ea typeface="Calibri" pitchFamily="34" charset="-122"/>
                <a:cs typeface="Calibri" pitchFamily="34" charset="-120"/>
              </a:rPr>
              <a:t>5 · SENDER</a:t>
            </a:r>
            <a:endParaRPr lang="en-US" sz="1100" dirty="0"/>
          </a:p>
        </p:txBody>
      </p:sp>
      <p:sp>
        <p:nvSpPr>
          <p:cNvPr id="24" name="Text 22"/>
          <p:cNvSpPr txBox="1"/>
          <p:nvPr/>
        </p:nvSpPr>
        <p:spPr>
          <a:xfrm>
            <a:off x="4612538" y="3657600"/>
            <a:ext cx="2966618" cy="365760"/>
          </a:xfrm>
          <a:prstGeom prst="rect">
            <a:avLst/>
          </a:prstGeom>
          <a:noFill/>
          <a:ln/>
        </p:spPr>
        <p:txBody>
          <a:bodyPr wrap="square" lIns="0" tIns="0" rIns="0" bIns="0" rtlCol="0" anchor="t"/>
          <a:lstStyle/>
          <a:p>
            <a:pPr indent="0" marL="0">
              <a:buNone/>
            </a:pPr>
            <a:r>
              <a:rPr lang="en-US" sz="1700" b="1" dirty="0">
                <a:solidFill>
                  <a:srgbClr val="0F1B2D"/>
                </a:solidFill>
                <a:latin typeface="Calibri" pitchFamily="34" charset="0"/>
                <a:ea typeface="Calibri" pitchFamily="34" charset="-122"/>
                <a:cs typeface="Calibri" pitchFamily="34" charset="-120"/>
              </a:rPr>
              <a:t>Lock a quote</a:t>
            </a:r>
            <a:endParaRPr lang="en-US" sz="1700" dirty="0"/>
          </a:p>
        </p:txBody>
      </p:sp>
      <p:sp>
        <p:nvSpPr>
          <p:cNvPr id="25" name="Text 23"/>
          <p:cNvSpPr txBox="1"/>
          <p:nvPr/>
        </p:nvSpPr>
        <p:spPr>
          <a:xfrm>
            <a:off x="4612538" y="4069080"/>
            <a:ext cx="2966618" cy="320040"/>
          </a:xfrm>
          <a:prstGeom prst="rect">
            <a:avLst/>
          </a:prstGeom>
          <a:noFill/>
          <a:ln/>
        </p:spPr>
        <p:txBody>
          <a:bodyPr wrap="square" lIns="0" tIns="0" rIns="0" bIns="0" rtlCol="0" anchor="t"/>
          <a:lstStyle/>
          <a:p>
            <a:pPr indent="0" marL="0">
              <a:buNone/>
            </a:pPr>
            <a:r>
              <a:rPr lang="en-US" sz="1300" dirty="0">
                <a:solidFill>
                  <a:srgbClr val="45505F"/>
                </a:solidFill>
                <a:latin typeface="Calibri" pitchFamily="34" charset="0"/>
                <a:ea typeface="Calibri" pitchFamily="34" charset="-122"/>
                <a:cs typeface="Calibri" pitchFamily="34" charset="-120"/>
              </a:rPr>
              <a:t>15-minute expiry, MG tracking ref</a:t>
            </a:r>
            <a:endParaRPr lang="en-US" sz="1300" dirty="0"/>
          </a:p>
        </p:txBody>
      </p:sp>
      <p:sp>
        <p:nvSpPr>
          <p:cNvPr id="26" name="Shape 24"/>
          <p:cNvSpPr/>
          <p:nvPr/>
        </p:nvSpPr>
        <p:spPr>
          <a:xfrm>
            <a:off x="8127797" y="3200400"/>
            <a:ext cx="3515258" cy="1325880"/>
          </a:xfrm>
          <a:prstGeom prst="roundRect">
            <a:avLst>
              <a:gd name="adj" fmla="val 8276"/>
            </a:avLst>
          </a:prstGeom>
          <a:solidFill>
            <a:srgbClr val="F3F5F7"/>
          </a:solidFill>
          <a:ln w="12700">
            <a:solidFill>
              <a:srgbClr val="DDE2E7"/>
            </a:solidFill>
            <a:prstDash val="solid"/>
          </a:ln>
        </p:spPr>
        <p:txBody>
          <a:bodyPr/>
          <a:p/>
        </p:txBody>
      </p:sp>
      <p:sp>
        <p:nvSpPr>
          <p:cNvPr id="27" name="Text 25"/>
          <p:cNvSpPr txBox="1"/>
          <p:nvPr/>
        </p:nvSpPr>
        <p:spPr>
          <a:xfrm>
            <a:off x="8402117" y="3383280"/>
            <a:ext cx="2966618" cy="274320"/>
          </a:xfrm>
          <a:prstGeom prst="rect">
            <a:avLst/>
          </a:prstGeom>
          <a:noFill/>
          <a:ln/>
        </p:spPr>
        <p:txBody>
          <a:bodyPr wrap="square" lIns="0" tIns="0" rIns="0" bIns="0" rtlCol="0" anchor="t"/>
          <a:lstStyle/>
          <a:p>
            <a:pPr indent="0" marL="0">
              <a:buNone/>
            </a:pPr>
            <a:r>
              <a:rPr lang="en-US" sz="1100" b="1" dirty="0">
                <a:solidFill>
                  <a:srgbClr val="8A5A00"/>
                </a:solidFill>
                <a:latin typeface="Calibri" pitchFamily="34" charset="0"/>
                <a:ea typeface="Calibri" pitchFamily="34" charset="-122"/>
                <a:cs typeface="Calibri" pitchFamily="34" charset="-120"/>
              </a:rPr>
              <a:t>6 · SENDER + ADMIN</a:t>
            </a:r>
            <a:endParaRPr lang="en-US" sz="1100" dirty="0"/>
          </a:p>
        </p:txBody>
      </p:sp>
      <p:sp>
        <p:nvSpPr>
          <p:cNvPr id="28" name="Text 26"/>
          <p:cNvSpPr txBox="1"/>
          <p:nvPr/>
        </p:nvSpPr>
        <p:spPr>
          <a:xfrm>
            <a:off x="8402117" y="3657600"/>
            <a:ext cx="2966618" cy="365760"/>
          </a:xfrm>
          <a:prstGeom prst="rect">
            <a:avLst/>
          </a:prstGeom>
          <a:noFill/>
          <a:ln/>
        </p:spPr>
        <p:txBody>
          <a:bodyPr wrap="square" lIns="0" tIns="0" rIns="0" bIns="0" rtlCol="0" anchor="t"/>
          <a:lstStyle/>
          <a:p>
            <a:pPr indent="0" marL="0">
              <a:buNone/>
            </a:pPr>
            <a:r>
              <a:rPr lang="en-US" sz="1700" b="1" dirty="0">
                <a:solidFill>
                  <a:srgbClr val="0F1B2D"/>
                </a:solidFill>
                <a:latin typeface="Calibri" pitchFamily="34" charset="0"/>
                <a:ea typeface="Calibri" pitchFamily="34" charset="-122"/>
                <a:cs typeface="Calibri" pitchFamily="34" charset="-120"/>
              </a:rPr>
              <a:t>Cash-in, confirmed</a:t>
            </a:r>
            <a:endParaRPr lang="en-US" sz="1700" dirty="0"/>
          </a:p>
        </p:txBody>
      </p:sp>
      <p:sp>
        <p:nvSpPr>
          <p:cNvPr id="29" name="Text 27"/>
          <p:cNvSpPr txBox="1"/>
          <p:nvPr/>
        </p:nvSpPr>
        <p:spPr>
          <a:xfrm>
            <a:off x="8402117" y="4069080"/>
            <a:ext cx="2966618" cy="320040"/>
          </a:xfrm>
          <a:prstGeom prst="rect">
            <a:avLst/>
          </a:prstGeom>
          <a:noFill/>
          <a:ln/>
        </p:spPr>
        <p:txBody>
          <a:bodyPr wrap="square" lIns="0" tIns="0" rIns="0" bIns="0" rtlCol="0" anchor="t"/>
          <a:lstStyle/>
          <a:p>
            <a:pPr indent="0" marL="0">
              <a:buNone/>
            </a:pPr>
            <a:r>
              <a:rPr lang="en-US" sz="1300" dirty="0">
                <a:solidFill>
                  <a:srgbClr val="45505F"/>
                </a:solidFill>
                <a:latin typeface="Calibri" pitchFamily="34" charset="0"/>
                <a:ea typeface="Calibri" pitchFamily="34" charset="-122"/>
                <a:cs typeface="Calibri" pitchFamily="34" charset="-120"/>
              </a:rPr>
              <a:t>Agent, bank or card (simulated)</a:t>
            </a:r>
            <a:endParaRPr lang="en-US" sz="1300" dirty="0"/>
          </a:p>
        </p:txBody>
      </p:sp>
      <p:sp>
        <p:nvSpPr>
          <p:cNvPr id="30" name="Shape 28"/>
          <p:cNvSpPr/>
          <p:nvPr/>
        </p:nvSpPr>
        <p:spPr>
          <a:xfrm>
            <a:off x="548640" y="4709160"/>
            <a:ext cx="3515258" cy="1325880"/>
          </a:xfrm>
          <a:prstGeom prst="roundRect">
            <a:avLst>
              <a:gd name="adj" fmla="val 8276"/>
            </a:avLst>
          </a:prstGeom>
          <a:solidFill>
            <a:srgbClr val="0F1B2D"/>
          </a:solidFill>
          <a:ln/>
        </p:spPr>
        <p:txBody>
          <a:bodyPr/>
          <a:p/>
        </p:txBody>
      </p:sp>
      <p:sp>
        <p:nvSpPr>
          <p:cNvPr id="31" name="Text 29"/>
          <p:cNvSpPr txBox="1"/>
          <p:nvPr/>
        </p:nvSpPr>
        <p:spPr>
          <a:xfrm>
            <a:off x="822960" y="4892040"/>
            <a:ext cx="2966618" cy="274320"/>
          </a:xfrm>
          <a:prstGeom prst="rect">
            <a:avLst/>
          </a:prstGeom>
          <a:noFill/>
          <a:ln/>
        </p:spPr>
        <p:txBody>
          <a:bodyPr wrap="square" lIns="0" tIns="0" rIns="0" bIns="0" rtlCol="0" anchor="t"/>
          <a:lstStyle/>
          <a:p>
            <a:pPr indent="0" marL="0">
              <a:buNone/>
            </a:pPr>
            <a:r>
              <a:rPr lang="en-US" sz="1100" b="1" dirty="0">
                <a:solidFill>
                  <a:srgbClr val="F2B84B"/>
                </a:solidFill>
                <a:latin typeface="Calibri" pitchFamily="34" charset="0"/>
                <a:ea typeface="Calibri" pitchFamily="34" charset="-122"/>
                <a:cs typeface="Calibri" pitchFamily="34" charset="-120"/>
              </a:rPr>
              <a:t>7 · SYSTEM</a:t>
            </a:r>
            <a:endParaRPr lang="en-US" sz="1100" dirty="0"/>
          </a:p>
        </p:txBody>
      </p:sp>
      <p:sp>
        <p:nvSpPr>
          <p:cNvPr id="32" name="Text 30"/>
          <p:cNvSpPr txBox="1"/>
          <p:nvPr/>
        </p:nvSpPr>
        <p:spPr>
          <a:xfrm>
            <a:off x="822960" y="5166360"/>
            <a:ext cx="2966618"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XRPL settlement</a:t>
            </a:r>
            <a:endParaRPr lang="en-US" sz="1700" dirty="0"/>
          </a:p>
        </p:txBody>
      </p:sp>
      <p:sp>
        <p:nvSpPr>
          <p:cNvPr id="33" name="Text 31"/>
          <p:cNvSpPr txBox="1"/>
          <p:nvPr/>
        </p:nvSpPr>
        <p:spPr>
          <a:xfrm>
            <a:off x="822960" y="5577840"/>
            <a:ext cx="2966618" cy="320040"/>
          </a:xfrm>
          <a:prstGeom prst="rect">
            <a:avLst/>
          </a:prstGeom>
          <a:noFill/>
          <a:ln/>
        </p:spPr>
        <p:txBody>
          <a:bodyPr wrap="square" lIns="0" tIns="0" rIns="0" bIns="0" rtlCol="0" anchor="t"/>
          <a:lstStyle/>
          <a:p>
            <a:pPr indent="0" marL="0">
              <a:buNone/>
            </a:pPr>
            <a:r>
              <a:rPr lang="en-US" sz="1300" dirty="0">
                <a:solidFill>
                  <a:srgbClr val="BFC8D6"/>
                </a:solidFill>
                <a:latin typeface="Calibri" pitchFamily="34" charset="0"/>
                <a:ea typeface="Calibri" pitchFamily="34" charset="-122"/>
                <a:cs typeface="Calibri" pitchFamily="34" charset="-120"/>
              </a:rPr>
              <a:t>Treasury pays recipient on-chain</a:t>
            </a:r>
            <a:endParaRPr lang="en-US" sz="1300" dirty="0"/>
          </a:p>
        </p:txBody>
      </p:sp>
      <p:sp>
        <p:nvSpPr>
          <p:cNvPr id="34" name="Shape 32"/>
          <p:cNvSpPr/>
          <p:nvPr/>
        </p:nvSpPr>
        <p:spPr>
          <a:xfrm>
            <a:off x="4338218" y="4709160"/>
            <a:ext cx="3515258" cy="1325880"/>
          </a:xfrm>
          <a:prstGeom prst="roundRect">
            <a:avLst>
              <a:gd name="adj" fmla="val 8276"/>
            </a:avLst>
          </a:prstGeom>
          <a:solidFill>
            <a:srgbClr val="F3F5F7"/>
          </a:solidFill>
          <a:ln w="12700">
            <a:solidFill>
              <a:srgbClr val="DDE2E7"/>
            </a:solidFill>
            <a:prstDash val="solid"/>
          </a:ln>
        </p:spPr>
        <p:txBody>
          <a:bodyPr/>
          <a:p/>
        </p:txBody>
      </p:sp>
      <p:sp>
        <p:nvSpPr>
          <p:cNvPr id="35" name="Text 33"/>
          <p:cNvSpPr txBox="1"/>
          <p:nvPr/>
        </p:nvSpPr>
        <p:spPr>
          <a:xfrm>
            <a:off x="4612538" y="4892040"/>
            <a:ext cx="2966618" cy="274320"/>
          </a:xfrm>
          <a:prstGeom prst="rect">
            <a:avLst/>
          </a:prstGeom>
          <a:noFill/>
          <a:ln/>
        </p:spPr>
        <p:txBody>
          <a:bodyPr wrap="square" lIns="0" tIns="0" rIns="0" bIns="0" rtlCol="0" anchor="t"/>
          <a:lstStyle/>
          <a:p>
            <a:pPr indent="0" marL="0">
              <a:buNone/>
            </a:pPr>
            <a:r>
              <a:rPr lang="en-US" sz="1100" b="1" dirty="0">
                <a:solidFill>
                  <a:srgbClr val="2B5FA8"/>
                </a:solidFill>
                <a:latin typeface="Calibri" pitchFamily="34" charset="0"/>
                <a:ea typeface="Calibri" pitchFamily="34" charset="-122"/>
                <a:cs typeface="Calibri" pitchFamily="34" charset="-120"/>
              </a:rPr>
              <a:t>8 · RECIPIENT</a:t>
            </a:r>
            <a:endParaRPr lang="en-US" sz="1100" dirty="0"/>
          </a:p>
        </p:txBody>
      </p:sp>
      <p:sp>
        <p:nvSpPr>
          <p:cNvPr id="36" name="Text 34"/>
          <p:cNvSpPr txBox="1"/>
          <p:nvPr/>
        </p:nvSpPr>
        <p:spPr>
          <a:xfrm>
            <a:off x="4612538" y="5166360"/>
            <a:ext cx="2966618" cy="365760"/>
          </a:xfrm>
          <a:prstGeom prst="rect">
            <a:avLst/>
          </a:prstGeom>
          <a:noFill/>
          <a:ln/>
        </p:spPr>
        <p:txBody>
          <a:bodyPr wrap="square" lIns="0" tIns="0" rIns="0" bIns="0" rtlCol="0" anchor="t"/>
          <a:lstStyle/>
          <a:p>
            <a:pPr indent="0" marL="0">
              <a:buNone/>
            </a:pPr>
            <a:r>
              <a:rPr lang="en-US" sz="1700" b="1" dirty="0">
                <a:solidFill>
                  <a:srgbClr val="0F1B2D"/>
                </a:solidFill>
                <a:latin typeface="Calibri" pitchFamily="34" charset="0"/>
                <a:ea typeface="Calibri" pitchFamily="34" charset="-122"/>
                <a:cs typeface="Calibri" pitchFamily="34" charset="-120"/>
              </a:rPr>
              <a:t>Wallet and tracking</a:t>
            </a:r>
            <a:endParaRPr lang="en-US" sz="1700" dirty="0"/>
          </a:p>
        </p:txBody>
      </p:sp>
      <p:sp>
        <p:nvSpPr>
          <p:cNvPr id="37" name="Text 35"/>
          <p:cNvSpPr txBox="1"/>
          <p:nvPr/>
        </p:nvSpPr>
        <p:spPr>
          <a:xfrm>
            <a:off x="4612538" y="5577840"/>
            <a:ext cx="2966618" cy="320040"/>
          </a:xfrm>
          <a:prstGeom prst="rect">
            <a:avLst/>
          </a:prstGeom>
          <a:noFill/>
          <a:ln/>
        </p:spPr>
        <p:txBody>
          <a:bodyPr wrap="square" lIns="0" tIns="0" rIns="0" bIns="0" rtlCol="0" anchor="t"/>
          <a:lstStyle/>
          <a:p>
            <a:pPr indent="0" marL="0">
              <a:buNone/>
            </a:pPr>
            <a:r>
              <a:rPr lang="en-US" sz="1300" dirty="0">
                <a:solidFill>
                  <a:srgbClr val="45505F"/>
                </a:solidFill>
                <a:latin typeface="Calibri" pitchFamily="34" charset="0"/>
                <a:ea typeface="Calibri" pitchFamily="34" charset="-122"/>
                <a:cs typeface="Calibri" pitchFamily="34" charset="-120"/>
              </a:rPr>
              <a:t>Balance plus transaction hash</a:t>
            </a:r>
            <a:endParaRPr lang="en-US" sz="1300" dirty="0"/>
          </a:p>
        </p:txBody>
      </p:sp>
      <p:sp>
        <p:nvSpPr>
          <p:cNvPr id="38" name="Shape 36"/>
          <p:cNvSpPr/>
          <p:nvPr/>
        </p:nvSpPr>
        <p:spPr>
          <a:xfrm>
            <a:off x="8127797" y="4709160"/>
            <a:ext cx="3515258" cy="1325880"/>
          </a:xfrm>
          <a:prstGeom prst="roundRect">
            <a:avLst>
              <a:gd name="adj" fmla="val 8276"/>
            </a:avLst>
          </a:prstGeom>
          <a:solidFill>
            <a:srgbClr val="F3F5F7"/>
          </a:solidFill>
          <a:ln w="12700">
            <a:solidFill>
              <a:srgbClr val="DDE2E7"/>
            </a:solidFill>
            <a:prstDash val="solid"/>
          </a:ln>
        </p:spPr>
        <p:txBody>
          <a:bodyPr/>
          <a:p/>
        </p:txBody>
      </p:sp>
      <p:sp>
        <p:nvSpPr>
          <p:cNvPr id="39" name="Text 37"/>
          <p:cNvSpPr txBox="1"/>
          <p:nvPr/>
        </p:nvSpPr>
        <p:spPr>
          <a:xfrm>
            <a:off x="8402117" y="4892040"/>
            <a:ext cx="2966618" cy="274320"/>
          </a:xfrm>
          <a:prstGeom prst="rect">
            <a:avLst/>
          </a:prstGeom>
          <a:noFill/>
          <a:ln/>
        </p:spPr>
        <p:txBody>
          <a:bodyPr wrap="square" lIns="0" tIns="0" rIns="0" bIns="0" rtlCol="0" anchor="t"/>
          <a:lstStyle/>
          <a:p>
            <a:pPr indent="0" marL="0">
              <a:buNone/>
            </a:pPr>
            <a:r>
              <a:rPr lang="en-US" sz="1100" b="1" dirty="0">
                <a:solidFill>
                  <a:srgbClr val="2B5FA8"/>
                </a:solidFill>
                <a:latin typeface="Calibri" pitchFamily="34" charset="0"/>
                <a:ea typeface="Calibri" pitchFamily="34" charset="-122"/>
                <a:cs typeface="Calibri" pitchFamily="34" charset="-120"/>
              </a:rPr>
              <a:t>9 · RECIPIENT</a:t>
            </a:r>
            <a:endParaRPr lang="en-US" sz="1100" dirty="0"/>
          </a:p>
        </p:txBody>
      </p:sp>
      <p:sp>
        <p:nvSpPr>
          <p:cNvPr id="40" name="Text 38"/>
          <p:cNvSpPr txBox="1"/>
          <p:nvPr/>
        </p:nvSpPr>
        <p:spPr>
          <a:xfrm>
            <a:off x="8402117" y="5166360"/>
            <a:ext cx="2966618" cy="365760"/>
          </a:xfrm>
          <a:prstGeom prst="rect">
            <a:avLst/>
          </a:prstGeom>
          <a:noFill/>
          <a:ln/>
        </p:spPr>
        <p:txBody>
          <a:bodyPr wrap="square" lIns="0" tIns="0" rIns="0" bIns="0" rtlCol="0" anchor="t"/>
          <a:lstStyle/>
          <a:p>
            <a:pPr indent="0" marL="0">
              <a:buNone/>
            </a:pPr>
            <a:r>
              <a:rPr lang="en-US" sz="1700" b="1" dirty="0">
                <a:solidFill>
                  <a:srgbClr val="0F1B2D"/>
                </a:solidFill>
                <a:latin typeface="Calibri" pitchFamily="34" charset="0"/>
                <a:ea typeface="Calibri" pitchFamily="34" charset="-122"/>
                <a:cs typeface="Calibri" pitchFamily="34" charset="-120"/>
              </a:rPr>
              <a:t>Cash out</a:t>
            </a:r>
            <a:endParaRPr lang="en-US" sz="1700" dirty="0"/>
          </a:p>
        </p:txBody>
      </p:sp>
      <p:sp>
        <p:nvSpPr>
          <p:cNvPr id="41" name="Text 39"/>
          <p:cNvSpPr txBox="1"/>
          <p:nvPr/>
        </p:nvSpPr>
        <p:spPr>
          <a:xfrm>
            <a:off x="8402117" y="5577840"/>
            <a:ext cx="2966618" cy="320040"/>
          </a:xfrm>
          <a:prstGeom prst="rect">
            <a:avLst/>
          </a:prstGeom>
          <a:noFill/>
          <a:ln/>
        </p:spPr>
        <p:txBody>
          <a:bodyPr wrap="square" lIns="0" tIns="0" rIns="0" bIns="0" rtlCol="0" anchor="t"/>
          <a:lstStyle/>
          <a:p>
            <a:pPr indent="0" marL="0">
              <a:buNone/>
            </a:pPr>
            <a:r>
              <a:rPr lang="en-US" sz="1300" dirty="0">
                <a:solidFill>
                  <a:srgbClr val="45505F"/>
                </a:solidFill>
                <a:latin typeface="Calibri" pitchFamily="34" charset="0"/>
                <a:ea typeface="Calibri" pitchFamily="34" charset="-122"/>
                <a:cs typeface="Calibri" pitchFamily="34" charset="-120"/>
              </a:rPr>
              <a:t>USD or ZAR; tokens burned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t"/>
          <a:lstStyle/>
          <a:p>
            <a:pPr indent="0" marL="0">
              <a:buNone/>
            </a:pPr>
            <a:r>
              <a:rPr lang="en-US" sz="1200" b="1" spc="300" kern="0" dirty="0">
                <a:solidFill>
                  <a:srgbClr val="0E7C68"/>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548640" y="749808"/>
            <a:ext cx="11094415" cy="685800"/>
          </a:xfrm>
          <a:prstGeom prst="rect">
            <a:avLst/>
          </a:prstGeom>
          <a:noFill/>
          <a:ln/>
        </p:spPr>
        <p:txBody>
          <a:bodyPr wrap="square" lIns="0" tIns="0" rIns="0" bIns="0" rtlCol="0" anchor="t"/>
          <a:lstStyle/>
          <a:p>
            <a:pPr indent="0" marL="0">
              <a:buNone/>
            </a:pPr>
            <a:r>
              <a:rPr lang="en-US" sz="3200" b="1" dirty="0">
                <a:solidFill>
                  <a:srgbClr val="0F1B2D"/>
                </a:solidFill>
                <a:latin typeface="Cambria" pitchFamily="34" charset="0"/>
                <a:ea typeface="Cambria" pitchFamily="34" charset="-122"/>
                <a:cs typeface="Cambria" pitchFamily="34" charset="-120"/>
              </a:rPr>
              <a:t>Six parts, one source of truth</a:t>
            </a:r>
            <a:endParaRPr lang="en-US" sz="3200" dirty="0"/>
          </a:p>
        </p:txBody>
      </p:sp>
      <p:sp>
        <p:nvSpPr>
          <p:cNvPr id="4" name="Text 2"/>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Baobab · Group 3</a:t>
            </a:r>
            <a:endParaRPr lang="en-US" sz="1100" dirty="0"/>
          </a:p>
        </p:txBody>
      </p:sp>
      <p:sp>
        <p:nvSpPr>
          <p:cNvPr id="5" name="Text 3"/>
          <p:cNvSpPr txBox="1"/>
          <p:nvPr/>
        </p:nvSpPr>
        <p:spPr>
          <a:xfrm>
            <a:off x="10728655" y="6355080"/>
            <a:ext cx="914400" cy="274320"/>
          </a:xfrm>
          <a:prstGeom prst="rect">
            <a:avLst/>
          </a:prstGeom>
          <a:noFill/>
          <a:ln/>
        </p:spPr>
        <p:txBody>
          <a:bodyPr wrap="square" lIns="0" tIns="0" rIns="0" bIns="0" rtlCol="0" anchor="t"/>
          <a:lstStyle/>
          <a:p>
            <a:pPr algn="r" indent="0" marL="0">
              <a:buNone/>
            </a:pPr>
            <a:r>
              <a:rPr lang="en-US" sz="1100" dirty="0">
                <a:solidFill>
                  <a:srgbClr val="5B6472"/>
                </a:solidFill>
                <a:latin typeface="Calibri" pitchFamily="34" charset="0"/>
                <a:ea typeface="Calibri" pitchFamily="34" charset="-122"/>
                <a:cs typeface="Calibri" pitchFamily="34" charset="-120"/>
              </a:rPr>
              <a:t>05</a:t>
            </a:r>
            <a:endParaRPr lang="en-US" sz="1100" dirty="0"/>
          </a:p>
        </p:txBody>
      </p:sp>
      <p:sp>
        <p:nvSpPr>
          <p:cNvPr id="6" name="Shape 4"/>
          <p:cNvSpPr/>
          <p:nvPr/>
        </p:nvSpPr>
        <p:spPr>
          <a:xfrm>
            <a:off x="548640" y="2103120"/>
            <a:ext cx="3017520" cy="1005840"/>
          </a:xfrm>
          <a:prstGeom prst="roundRect">
            <a:avLst>
              <a:gd name="adj" fmla="val 10909"/>
            </a:avLst>
          </a:prstGeom>
          <a:solidFill>
            <a:srgbClr val="F3F5F7"/>
          </a:solidFill>
          <a:ln w="19050">
            <a:solidFill>
              <a:srgbClr val="0F1B2D"/>
            </a:solidFill>
            <a:prstDash val="solid"/>
          </a:ln>
        </p:spPr>
        <p:txBody>
          <a:bodyPr/>
          <a:p/>
        </p:txBody>
      </p:sp>
      <p:sp>
        <p:nvSpPr>
          <p:cNvPr id="7" name="Text 5"/>
          <p:cNvSpPr txBox="1"/>
          <p:nvPr/>
        </p:nvSpPr>
        <p:spPr>
          <a:xfrm>
            <a:off x="777240" y="2267712"/>
            <a:ext cx="2560320" cy="365760"/>
          </a:xfrm>
          <a:prstGeom prst="rect">
            <a:avLst/>
          </a:prstGeom>
          <a:noFill/>
          <a:ln/>
        </p:spPr>
        <p:txBody>
          <a:bodyPr wrap="square" lIns="0" tIns="0" rIns="0" bIns="0" rtlCol="0" anchor="t"/>
          <a:lstStyle/>
          <a:p>
            <a:pPr indent="0" marL="0">
              <a:buNone/>
            </a:pPr>
            <a:r>
              <a:rPr lang="en-US" sz="1700" b="1" dirty="0">
                <a:solidFill>
                  <a:srgbClr val="0F1B2D"/>
                </a:solidFill>
                <a:latin typeface="Calibri" pitchFamily="34" charset="0"/>
                <a:ea typeface="Calibri" pitchFamily="34" charset="-122"/>
                <a:cs typeface="Calibri" pitchFamily="34" charset="-120"/>
              </a:rPr>
              <a:t>React web UI</a:t>
            </a:r>
            <a:endParaRPr lang="en-US" sz="1700" dirty="0"/>
          </a:p>
        </p:txBody>
      </p:sp>
      <p:sp>
        <p:nvSpPr>
          <p:cNvPr id="8" name="Text 6"/>
          <p:cNvSpPr txBox="1"/>
          <p:nvPr/>
        </p:nvSpPr>
        <p:spPr>
          <a:xfrm>
            <a:off x="777240" y="2651760"/>
            <a:ext cx="2560320" cy="320040"/>
          </a:xfrm>
          <a:prstGeom prst="rect">
            <a:avLst/>
          </a:prstGeom>
          <a:noFill/>
          <a:ln/>
        </p:spPr>
        <p:txBody>
          <a:bodyPr wrap="square" lIns="0" tIns="0" rIns="0" bIns="0" rtlCol="0" anchor="t"/>
          <a:lstStyle/>
          <a:p>
            <a:pPr indent="0" marL="0">
              <a:buNone/>
            </a:pPr>
            <a:r>
              <a:rPr lang="en-US" sz="1300" dirty="0">
                <a:solidFill>
                  <a:srgbClr val="45505F"/>
                </a:solidFill>
                <a:latin typeface="Calibri" pitchFamily="34" charset="0"/>
                <a:ea typeface="Calibri" pitchFamily="34" charset="-122"/>
                <a:cs typeface="Calibri" pitchFamily="34" charset="-120"/>
              </a:rPr>
              <a:t>Vite + TypeScript, port 5173</a:t>
            </a:r>
            <a:endParaRPr lang="en-US" sz="1300" dirty="0"/>
          </a:p>
        </p:txBody>
      </p:sp>
      <p:sp>
        <p:nvSpPr>
          <p:cNvPr id="9" name="Shape 7"/>
          <p:cNvSpPr/>
          <p:nvPr/>
        </p:nvSpPr>
        <p:spPr>
          <a:xfrm>
            <a:off x="4587545" y="2103120"/>
            <a:ext cx="3017520" cy="1005840"/>
          </a:xfrm>
          <a:prstGeom prst="roundRect">
            <a:avLst>
              <a:gd name="adj" fmla="val 10909"/>
            </a:avLst>
          </a:prstGeom>
          <a:solidFill>
            <a:srgbClr val="F3F5F7"/>
          </a:solidFill>
          <a:ln w="19050">
            <a:solidFill>
              <a:srgbClr val="0F1B2D"/>
            </a:solidFill>
            <a:prstDash val="solid"/>
          </a:ln>
        </p:spPr>
        <p:txBody>
          <a:bodyPr/>
          <a:p/>
        </p:txBody>
      </p:sp>
      <p:sp>
        <p:nvSpPr>
          <p:cNvPr id="10" name="Text 8"/>
          <p:cNvSpPr txBox="1"/>
          <p:nvPr/>
        </p:nvSpPr>
        <p:spPr>
          <a:xfrm>
            <a:off x="4816145" y="2267712"/>
            <a:ext cx="2560320" cy="365760"/>
          </a:xfrm>
          <a:prstGeom prst="rect">
            <a:avLst/>
          </a:prstGeom>
          <a:noFill/>
          <a:ln/>
        </p:spPr>
        <p:txBody>
          <a:bodyPr wrap="square" lIns="0" tIns="0" rIns="0" bIns="0" rtlCol="0" anchor="t"/>
          <a:lstStyle/>
          <a:p>
            <a:pPr indent="0" marL="0">
              <a:buNone/>
            </a:pPr>
            <a:r>
              <a:rPr lang="en-US" sz="1700" b="1" dirty="0">
                <a:solidFill>
                  <a:srgbClr val="0F1B2D"/>
                </a:solidFill>
                <a:latin typeface="Calibri" pitchFamily="34" charset="0"/>
                <a:ea typeface="Calibri" pitchFamily="34" charset="-122"/>
                <a:cs typeface="Calibri" pitchFamily="34" charset="-120"/>
              </a:rPr>
              <a:t>FastAPI</a:t>
            </a:r>
            <a:endParaRPr lang="en-US" sz="1700" dirty="0"/>
          </a:p>
        </p:txBody>
      </p:sp>
      <p:sp>
        <p:nvSpPr>
          <p:cNvPr id="11" name="Text 9"/>
          <p:cNvSpPr txBox="1"/>
          <p:nvPr/>
        </p:nvSpPr>
        <p:spPr>
          <a:xfrm>
            <a:off x="4816145" y="2651760"/>
            <a:ext cx="2560320" cy="320040"/>
          </a:xfrm>
          <a:prstGeom prst="rect">
            <a:avLst/>
          </a:prstGeom>
          <a:noFill/>
          <a:ln/>
        </p:spPr>
        <p:txBody>
          <a:bodyPr wrap="square" lIns="0" tIns="0" rIns="0" bIns="0" rtlCol="0" anchor="t"/>
          <a:lstStyle/>
          <a:p>
            <a:pPr indent="0" marL="0">
              <a:buNone/>
            </a:pPr>
            <a:r>
              <a:rPr lang="en-US" sz="1300" dirty="0">
                <a:solidFill>
                  <a:srgbClr val="45505F"/>
                </a:solidFill>
                <a:latin typeface="Calibri" pitchFamily="34" charset="0"/>
                <a:ea typeface="Calibri" pitchFamily="34" charset="-122"/>
                <a:cs typeface="Calibri" pitchFamily="34" charset="-120"/>
              </a:rPr>
              <a:t>JSON REST, bearer sessions</a:t>
            </a:r>
            <a:endParaRPr lang="en-US" sz="1300" dirty="0"/>
          </a:p>
        </p:txBody>
      </p:sp>
      <p:sp>
        <p:nvSpPr>
          <p:cNvPr id="12" name="Shape 10"/>
          <p:cNvSpPr/>
          <p:nvPr/>
        </p:nvSpPr>
        <p:spPr>
          <a:xfrm>
            <a:off x="8626450" y="2103120"/>
            <a:ext cx="3017520" cy="1005840"/>
          </a:xfrm>
          <a:prstGeom prst="roundRect">
            <a:avLst>
              <a:gd name="adj" fmla="val 10909"/>
            </a:avLst>
          </a:prstGeom>
          <a:solidFill>
            <a:srgbClr val="E3F1ED"/>
          </a:solidFill>
          <a:ln w="19050">
            <a:solidFill>
              <a:srgbClr val="0E7C68"/>
            </a:solidFill>
            <a:prstDash val="solid"/>
          </a:ln>
        </p:spPr>
        <p:txBody>
          <a:bodyPr/>
          <a:p/>
        </p:txBody>
      </p:sp>
      <p:sp>
        <p:nvSpPr>
          <p:cNvPr id="13" name="Text 11"/>
          <p:cNvSpPr txBox="1"/>
          <p:nvPr/>
        </p:nvSpPr>
        <p:spPr>
          <a:xfrm>
            <a:off x="8855050" y="2267712"/>
            <a:ext cx="2560320" cy="365760"/>
          </a:xfrm>
          <a:prstGeom prst="rect">
            <a:avLst/>
          </a:prstGeom>
          <a:noFill/>
          <a:ln/>
        </p:spPr>
        <p:txBody>
          <a:bodyPr wrap="square" lIns="0" tIns="0" rIns="0" bIns="0" rtlCol="0" anchor="t"/>
          <a:lstStyle/>
          <a:p>
            <a:pPr indent="0" marL="0">
              <a:buNone/>
            </a:pPr>
            <a:r>
              <a:rPr lang="en-US" sz="1700" b="1" dirty="0">
                <a:solidFill>
                  <a:srgbClr val="0F1B2D"/>
                </a:solidFill>
                <a:latin typeface="Calibri" pitchFamily="34" charset="0"/>
                <a:ea typeface="Calibri" pitchFamily="34" charset="-122"/>
                <a:cs typeface="Calibri" pitchFamily="34" charset="-120"/>
              </a:rPr>
              <a:t>SQLite + Alembic</a:t>
            </a:r>
            <a:endParaRPr lang="en-US" sz="1700" dirty="0"/>
          </a:p>
        </p:txBody>
      </p:sp>
      <p:sp>
        <p:nvSpPr>
          <p:cNvPr id="14" name="Text 12"/>
          <p:cNvSpPr txBox="1"/>
          <p:nvPr/>
        </p:nvSpPr>
        <p:spPr>
          <a:xfrm>
            <a:off x="8855050" y="2651760"/>
            <a:ext cx="2560320" cy="320040"/>
          </a:xfrm>
          <a:prstGeom prst="rect">
            <a:avLst/>
          </a:prstGeom>
          <a:noFill/>
          <a:ln/>
        </p:spPr>
        <p:txBody>
          <a:bodyPr wrap="square" lIns="0" tIns="0" rIns="0" bIns="0" rtlCol="0" anchor="t"/>
          <a:lstStyle/>
          <a:p>
            <a:pPr indent="0" marL="0">
              <a:buNone/>
            </a:pPr>
            <a:r>
              <a:rPr lang="en-US" sz="1300" dirty="0">
                <a:solidFill>
                  <a:srgbClr val="45505F"/>
                </a:solidFill>
                <a:latin typeface="Calibri" pitchFamily="34" charset="0"/>
                <a:ea typeface="Calibri" pitchFamily="34" charset="-122"/>
                <a:cs typeface="Calibri" pitchFamily="34" charset="-120"/>
              </a:rPr>
              <a:t>Source of truth for status</a:t>
            </a:r>
            <a:endParaRPr lang="en-US" sz="1300" dirty="0"/>
          </a:p>
        </p:txBody>
      </p:sp>
      <p:sp>
        <p:nvSpPr>
          <p:cNvPr id="15" name="Shape 13"/>
          <p:cNvSpPr/>
          <p:nvPr/>
        </p:nvSpPr>
        <p:spPr>
          <a:xfrm>
            <a:off x="548640" y="4206240"/>
            <a:ext cx="3017520" cy="1005840"/>
          </a:xfrm>
          <a:prstGeom prst="roundRect">
            <a:avLst>
              <a:gd name="adj" fmla="val 10909"/>
            </a:avLst>
          </a:prstGeom>
          <a:solidFill>
            <a:srgbClr val="F3F5F7"/>
          </a:solidFill>
          <a:ln w="19050">
            <a:solidFill>
              <a:srgbClr val="0F1B2D"/>
            </a:solidFill>
            <a:prstDash val="solid"/>
          </a:ln>
        </p:spPr>
        <p:txBody>
          <a:bodyPr/>
          <a:p/>
        </p:txBody>
      </p:sp>
      <p:sp>
        <p:nvSpPr>
          <p:cNvPr id="16" name="Text 14"/>
          <p:cNvSpPr txBox="1"/>
          <p:nvPr/>
        </p:nvSpPr>
        <p:spPr>
          <a:xfrm>
            <a:off x="777240" y="4370832"/>
            <a:ext cx="2560320" cy="365760"/>
          </a:xfrm>
          <a:prstGeom prst="rect">
            <a:avLst/>
          </a:prstGeom>
          <a:noFill/>
          <a:ln/>
        </p:spPr>
        <p:txBody>
          <a:bodyPr wrap="square" lIns="0" tIns="0" rIns="0" bIns="0" rtlCol="0" anchor="t"/>
          <a:lstStyle/>
          <a:p>
            <a:pPr indent="0" marL="0">
              <a:buNone/>
            </a:pPr>
            <a:r>
              <a:rPr lang="en-US" sz="1700" b="1" dirty="0">
                <a:solidFill>
                  <a:srgbClr val="0F1B2D"/>
                </a:solidFill>
                <a:latin typeface="Calibri" pitchFamily="34" charset="0"/>
                <a:ea typeface="Calibri" pitchFamily="34" charset="-122"/>
                <a:cs typeface="Calibri" pitchFamily="34" charset="-120"/>
              </a:rPr>
              <a:t>Exchange-rate API</a:t>
            </a:r>
            <a:endParaRPr lang="en-US" sz="1700" dirty="0"/>
          </a:p>
        </p:txBody>
      </p:sp>
      <p:sp>
        <p:nvSpPr>
          <p:cNvPr id="17" name="Text 15"/>
          <p:cNvSpPr txBox="1"/>
          <p:nvPr/>
        </p:nvSpPr>
        <p:spPr>
          <a:xfrm>
            <a:off x="777240" y="4754880"/>
            <a:ext cx="2560320" cy="320040"/>
          </a:xfrm>
          <a:prstGeom prst="rect">
            <a:avLst/>
          </a:prstGeom>
          <a:noFill/>
          <a:ln/>
        </p:spPr>
        <p:txBody>
          <a:bodyPr wrap="square" lIns="0" tIns="0" rIns="0" bIns="0" rtlCol="0" anchor="t"/>
          <a:lstStyle/>
          <a:p>
            <a:pPr indent="0" marL="0">
              <a:buNone/>
            </a:pPr>
            <a:r>
              <a:rPr lang="en-US" sz="1300" dirty="0">
                <a:solidFill>
                  <a:srgbClr val="45505F"/>
                </a:solidFill>
                <a:latin typeface="Calibri" pitchFamily="34" charset="0"/>
                <a:ea typeface="Calibri" pitchFamily="34" charset="-122"/>
                <a:cs typeface="Calibri" pitchFamily="34" charset="-120"/>
              </a:rPr>
              <a:t>Cached 5 min; .env fallback</a:t>
            </a:r>
            <a:endParaRPr lang="en-US" sz="1300" dirty="0"/>
          </a:p>
        </p:txBody>
      </p:sp>
      <p:sp>
        <p:nvSpPr>
          <p:cNvPr id="18" name="Shape 16"/>
          <p:cNvSpPr/>
          <p:nvPr/>
        </p:nvSpPr>
        <p:spPr>
          <a:xfrm>
            <a:off x="4587545" y="4206240"/>
            <a:ext cx="3017520" cy="1005840"/>
          </a:xfrm>
          <a:prstGeom prst="roundRect">
            <a:avLst>
              <a:gd name="adj" fmla="val 10909"/>
            </a:avLst>
          </a:prstGeom>
          <a:solidFill>
            <a:srgbClr val="F3F5F7"/>
          </a:solidFill>
          <a:ln w="19050">
            <a:solidFill>
              <a:srgbClr val="0F1B2D"/>
            </a:solidFill>
            <a:prstDash val="solid"/>
          </a:ln>
        </p:spPr>
        <p:txBody>
          <a:bodyPr/>
          <a:p/>
        </p:txBody>
      </p:sp>
      <p:sp>
        <p:nvSpPr>
          <p:cNvPr id="19" name="Text 17"/>
          <p:cNvSpPr txBox="1"/>
          <p:nvPr/>
        </p:nvSpPr>
        <p:spPr>
          <a:xfrm>
            <a:off x="4816145" y="4370832"/>
            <a:ext cx="2560320" cy="365760"/>
          </a:xfrm>
          <a:prstGeom prst="rect">
            <a:avLst/>
          </a:prstGeom>
          <a:noFill/>
          <a:ln/>
        </p:spPr>
        <p:txBody>
          <a:bodyPr wrap="square" lIns="0" tIns="0" rIns="0" bIns="0" rtlCol="0" anchor="t"/>
          <a:lstStyle/>
          <a:p>
            <a:pPr indent="0" marL="0">
              <a:buNone/>
            </a:pPr>
            <a:r>
              <a:rPr lang="en-US" sz="1700" b="1" dirty="0">
                <a:solidFill>
                  <a:srgbClr val="0F1B2D"/>
                </a:solidFill>
                <a:latin typeface="Calibri" pitchFamily="34" charset="0"/>
                <a:ea typeface="Calibri" pitchFamily="34" charset="-122"/>
                <a:cs typeface="Calibri" pitchFamily="34" charset="-120"/>
              </a:rPr>
              <a:t>Redis Streams</a:t>
            </a:r>
            <a:endParaRPr lang="en-US" sz="1700" dirty="0"/>
          </a:p>
        </p:txBody>
      </p:sp>
      <p:sp>
        <p:nvSpPr>
          <p:cNvPr id="20" name="Text 18"/>
          <p:cNvSpPr txBox="1"/>
          <p:nvPr/>
        </p:nvSpPr>
        <p:spPr>
          <a:xfrm>
            <a:off x="4816145" y="4754880"/>
            <a:ext cx="2560320" cy="320040"/>
          </a:xfrm>
          <a:prstGeom prst="rect">
            <a:avLst/>
          </a:prstGeom>
          <a:noFill/>
          <a:ln/>
        </p:spPr>
        <p:txBody>
          <a:bodyPr wrap="square" lIns="0" tIns="0" rIns="0" bIns="0" rtlCol="0" anchor="t"/>
          <a:lstStyle/>
          <a:p>
            <a:pPr indent="0" marL="0">
              <a:buNone/>
            </a:pPr>
            <a:r>
              <a:rPr lang="en-US" sz="1300" dirty="0">
                <a:solidFill>
                  <a:srgbClr val="45505F"/>
                </a:solidFill>
                <a:latin typeface="Calibri" pitchFamily="34" charset="0"/>
                <a:ea typeface="Calibri" pitchFamily="34" charset="-122"/>
                <a:cs typeface="Calibri" pitchFamily="34" charset="-120"/>
              </a:rPr>
              <a:t>Transport for settlement jobs</a:t>
            </a:r>
            <a:endParaRPr lang="en-US" sz="1300" dirty="0"/>
          </a:p>
        </p:txBody>
      </p:sp>
      <p:sp>
        <p:nvSpPr>
          <p:cNvPr id="21" name="Shape 19"/>
          <p:cNvSpPr/>
          <p:nvPr/>
        </p:nvSpPr>
        <p:spPr>
          <a:xfrm>
            <a:off x="8626450" y="4206240"/>
            <a:ext cx="3017520" cy="1005840"/>
          </a:xfrm>
          <a:prstGeom prst="roundRect">
            <a:avLst>
              <a:gd name="adj" fmla="val 10909"/>
            </a:avLst>
          </a:prstGeom>
          <a:solidFill>
            <a:srgbClr val="0F1B2D"/>
          </a:solidFill>
          <a:ln w="19050">
            <a:solidFill>
              <a:srgbClr val="0F1B2D"/>
            </a:solidFill>
            <a:prstDash val="solid"/>
          </a:ln>
        </p:spPr>
        <p:txBody>
          <a:bodyPr/>
          <a:p/>
        </p:txBody>
      </p:sp>
      <p:sp>
        <p:nvSpPr>
          <p:cNvPr id="22" name="Text 20"/>
          <p:cNvSpPr txBox="1"/>
          <p:nvPr/>
        </p:nvSpPr>
        <p:spPr>
          <a:xfrm>
            <a:off x="8855050" y="4370832"/>
            <a:ext cx="2560320" cy="36576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Settlement worker</a:t>
            </a:r>
            <a:endParaRPr lang="en-US" sz="1700" dirty="0"/>
          </a:p>
        </p:txBody>
      </p:sp>
      <p:sp>
        <p:nvSpPr>
          <p:cNvPr id="23" name="Text 21"/>
          <p:cNvSpPr txBox="1"/>
          <p:nvPr/>
        </p:nvSpPr>
        <p:spPr>
          <a:xfrm>
            <a:off x="8855050" y="4754880"/>
            <a:ext cx="2560320" cy="320040"/>
          </a:xfrm>
          <a:prstGeom prst="rect">
            <a:avLst/>
          </a:prstGeom>
          <a:noFill/>
          <a:ln/>
        </p:spPr>
        <p:txBody>
          <a:bodyPr wrap="square" lIns="0" tIns="0" rIns="0" bIns="0" rtlCol="0" anchor="t"/>
          <a:lstStyle/>
          <a:p>
            <a:pPr indent="0" marL="0">
              <a:buNone/>
            </a:pPr>
            <a:r>
              <a:rPr lang="en-US" sz="1300" dirty="0">
                <a:solidFill>
                  <a:srgbClr val="BFC8D6"/>
                </a:solidFill>
                <a:latin typeface="Calibri" pitchFamily="34" charset="0"/>
                <a:ea typeface="Calibri" pitchFamily="34" charset="-122"/>
                <a:cs typeface="Calibri" pitchFamily="34" charset="-120"/>
              </a:rPr>
              <a:t>xrpl-py → XRPL Testnet</a:t>
            </a:r>
            <a:endParaRPr lang="en-US" sz="1300" dirty="0"/>
          </a:p>
        </p:txBody>
      </p:sp>
      <p:sp>
        <p:nvSpPr>
          <p:cNvPr id="24" name="Shape 22"/>
          <p:cNvSpPr/>
          <p:nvPr/>
        </p:nvSpPr>
        <p:spPr>
          <a:xfrm>
            <a:off x="3566160" y="2606040"/>
            <a:ext cx="1021385" cy="0"/>
          </a:xfrm>
          <a:prstGeom prst="line">
            <a:avLst/>
          </a:prstGeom>
          <a:noFill/>
          <a:ln w="25400">
            <a:solidFill>
              <a:srgbClr val="0F1B2D"/>
            </a:solidFill>
            <a:prstDash val="solid"/>
            <a:tailEnd type="triangle"/>
          </a:ln>
        </p:spPr>
        <p:txBody>
          <a:bodyPr/>
          <a:p/>
        </p:txBody>
      </p:sp>
      <p:sp>
        <p:nvSpPr>
          <p:cNvPr id="25" name="Shape 23"/>
          <p:cNvSpPr/>
          <p:nvPr/>
        </p:nvSpPr>
        <p:spPr>
          <a:xfrm>
            <a:off x="7605065" y="2606040"/>
            <a:ext cx="1021385" cy="0"/>
          </a:xfrm>
          <a:prstGeom prst="line">
            <a:avLst/>
          </a:prstGeom>
          <a:noFill/>
          <a:ln w="25400">
            <a:solidFill>
              <a:srgbClr val="0F1B2D"/>
            </a:solidFill>
            <a:prstDash val="solid"/>
            <a:tailEnd type="triangle"/>
          </a:ln>
        </p:spPr>
        <p:txBody>
          <a:bodyPr/>
          <a:p/>
        </p:txBody>
      </p:sp>
      <p:sp>
        <p:nvSpPr>
          <p:cNvPr id="26" name="Shape 24"/>
          <p:cNvSpPr/>
          <p:nvPr/>
        </p:nvSpPr>
        <p:spPr>
          <a:xfrm>
            <a:off x="6096305" y="3108960"/>
            <a:ext cx="0" cy="1097280"/>
          </a:xfrm>
          <a:prstGeom prst="line">
            <a:avLst/>
          </a:prstGeom>
          <a:noFill/>
          <a:ln w="25400">
            <a:solidFill>
              <a:srgbClr val="0F1B2D"/>
            </a:solidFill>
            <a:prstDash val="solid"/>
            <a:tailEnd type="triangle"/>
          </a:ln>
        </p:spPr>
        <p:txBody>
          <a:bodyPr/>
          <a:p/>
        </p:txBody>
      </p:sp>
      <p:sp>
        <p:nvSpPr>
          <p:cNvPr id="27" name="Shape 25"/>
          <p:cNvSpPr/>
          <p:nvPr/>
        </p:nvSpPr>
        <p:spPr>
          <a:xfrm flipH="1">
            <a:off x="3566160" y="3108960"/>
            <a:ext cx="1021385" cy="1097280"/>
          </a:xfrm>
          <a:prstGeom prst="line">
            <a:avLst/>
          </a:prstGeom>
          <a:noFill/>
          <a:ln w="25400">
            <a:solidFill>
              <a:srgbClr val="0F1B2D"/>
            </a:solidFill>
            <a:prstDash val="solid"/>
            <a:tailEnd type="triangle"/>
          </a:ln>
        </p:spPr>
        <p:txBody>
          <a:bodyPr/>
          <a:p/>
        </p:txBody>
      </p:sp>
      <p:sp>
        <p:nvSpPr>
          <p:cNvPr id="28" name="Shape 26"/>
          <p:cNvSpPr/>
          <p:nvPr/>
        </p:nvSpPr>
        <p:spPr>
          <a:xfrm>
            <a:off x="7605065" y="4709160"/>
            <a:ext cx="1021385" cy="0"/>
          </a:xfrm>
          <a:prstGeom prst="line">
            <a:avLst/>
          </a:prstGeom>
          <a:noFill/>
          <a:ln w="25400">
            <a:solidFill>
              <a:srgbClr val="0F1B2D"/>
            </a:solidFill>
            <a:prstDash val="solid"/>
            <a:tailEnd type="triangle"/>
          </a:ln>
        </p:spPr>
        <p:txBody>
          <a:bodyPr/>
          <a:p/>
        </p:txBody>
      </p:sp>
      <p:sp>
        <p:nvSpPr>
          <p:cNvPr id="29" name="Shape 27"/>
          <p:cNvSpPr/>
          <p:nvPr/>
        </p:nvSpPr>
        <p:spPr>
          <a:xfrm flipV="1">
            <a:off x="10135210" y="3108960"/>
            <a:ext cx="0" cy="1097280"/>
          </a:xfrm>
          <a:prstGeom prst="line">
            <a:avLst/>
          </a:prstGeom>
          <a:noFill/>
          <a:ln w="25400">
            <a:solidFill>
              <a:srgbClr val="0E7C68"/>
            </a:solidFill>
            <a:prstDash val="solid"/>
            <a:tailEnd type="triangle"/>
          </a:ln>
        </p:spPr>
        <p:txBody>
          <a:bodyPr/>
          <a:p/>
        </p:txBody>
      </p:sp>
      <p:sp>
        <p:nvSpPr>
          <p:cNvPr id="30" name="Text 28"/>
          <p:cNvSpPr txBox="1"/>
          <p:nvPr/>
        </p:nvSpPr>
        <p:spPr>
          <a:xfrm>
            <a:off x="10272370" y="3474720"/>
            <a:ext cx="1371600" cy="274320"/>
          </a:xfrm>
          <a:prstGeom prst="rect">
            <a:avLst/>
          </a:prstGeom>
          <a:noFill/>
          <a:ln/>
        </p:spPr>
        <p:txBody>
          <a:bodyPr wrap="square" lIns="0" tIns="0" rIns="0" bIns="0" rtlCol="0" anchor="t"/>
          <a:lstStyle/>
          <a:p>
            <a:pPr indent="0" marL="0">
              <a:buNone/>
            </a:pPr>
            <a:r>
              <a:rPr lang="en-US" sz="1200" b="1" dirty="0">
                <a:solidFill>
                  <a:srgbClr val="0E7C68"/>
                </a:solidFill>
                <a:latin typeface="Calibri" pitchFamily="34" charset="0"/>
                <a:ea typeface="Calibri" pitchFamily="34" charset="-122"/>
                <a:cs typeface="Calibri" pitchFamily="34" charset="-120"/>
              </a:rPr>
              <a:t>hash + credit</a:t>
            </a:r>
            <a:endParaRPr lang="en-US" sz="1200" dirty="0"/>
          </a:p>
        </p:txBody>
      </p:sp>
      <p:sp>
        <p:nvSpPr>
          <p:cNvPr id="31" name="Text 29"/>
          <p:cNvSpPr txBox="1"/>
          <p:nvPr/>
        </p:nvSpPr>
        <p:spPr>
          <a:xfrm>
            <a:off x="548640" y="5577840"/>
            <a:ext cx="11094415" cy="365760"/>
          </a:xfrm>
          <a:prstGeom prst="rect">
            <a:avLst/>
          </a:prstGeom>
          <a:noFill/>
          <a:ln/>
        </p:spPr>
        <p:txBody>
          <a:bodyPr wrap="square" lIns="0" tIns="0" rIns="0" bIns="0" rtlCol="0" anchor="t"/>
          <a:lstStyle/>
          <a:p>
            <a:pPr indent="0" marL="0">
              <a:buNone/>
            </a:pPr>
            <a:r>
              <a:rPr lang="en-US" sz="1400" i="1" dirty="0">
                <a:solidFill>
                  <a:srgbClr val="5B6472"/>
                </a:solidFill>
                <a:latin typeface="Calibri" pitchFamily="34" charset="0"/>
                <a:ea typeface="Calibri" pitchFamily="34" charset="-122"/>
                <a:cs typeface="Calibri" pitchFamily="34" charset="-120"/>
              </a:rPr>
              <a:t>Redis carries settlement messages; SQLite holds the durable status. If they disagree, the database wins.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t"/>
          <a:lstStyle/>
          <a:p>
            <a:pPr indent="0" marL="0">
              <a:buNone/>
            </a:pPr>
            <a:r>
              <a:rPr lang="en-US" sz="1200" b="1" spc="300" kern="0" dirty="0">
                <a:solidFill>
                  <a:srgbClr val="0E7C68"/>
                </a:solidFill>
                <a:latin typeface="Calibri" pitchFamily="34" charset="0"/>
                <a:ea typeface="Calibri" pitchFamily="34" charset="-122"/>
                <a:cs typeface="Calibri" pitchFamily="34" charset="-120"/>
              </a:rPr>
              <a:t>ARCHITECTURE · SETTLEMENT</a:t>
            </a:r>
            <a:endParaRPr lang="en-US" sz="1200" dirty="0"/>
          </a:p>
        </p:txBody>
      </p:sp>
      <p:sp>
        <p:nvSpPr>
          <p:cNvPr id="3" name="Text 1"/>
          <p:cNvSpPr txBox="1"/>
          <p:nvPr/>
        </p:nvSpPr>
        <p:spPr>
          <a:xfrm>
            <a:off x="548640" y="749808"/>
            <a:ext cx="11094415" cy="685800"/>
          </a:xfrm>
          <a:prstGeom prst="rect">
            <a:avLst/>
          </a:prstGeom>
          <a:noFill/>
          <a:ln/>
        </p:spPr>
        <p:txBody>
          <a:bodyPr wrap="square" lIns="0" tIns="0" rIns="0" bIns="0" rtlCol="0" anchor="t"/>
          <a:lstStyle/>
          <a:p>
            <a:pPr indent="0" marL="0">
              <a:buNone/>
            </a:pPr>
            <a:r>
              <a:rPr lang="en-US" sz="3200" b="1" dirty="0">
                <a:solidFill>
                  <a:srgbClr val="0F1B2D"/>
                </a:solidFill>
                <a:latin typeface="Cambria" pitchFamily="34" charset="0"/>
                <a:ea typeface="Cambria" pitchFamily="34" charset="-122"/>
                <a:cs typeface="Cambria" pitchFamily="34" charset="-120"/>
              </a:rPr>
              <a:t>Settlement that cannot pay twice</a:t>
            </a:r>
            <a:endParaRPr lang="en-US" sz="3200" dirty="0"/>
          </a:p>
        </p:txBody>
      </p:sp>
      <p:sp>
        <p:nvSpPr>
          <p:cNvPr id="4" name="Text 2"/>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Baobab · Group 3</a:t>
            </a:r>
            <a:endParaRPr lang="en-US" sz="1100" dirty="0"/>
          </a:p>
        </p:txBody>
      </p:sp>
      <p:sp>
        <p:nvSpPr>
          <p:cNvPr id="5" name="Text 3"/>
          <p:cNvSpPr txBox="1"/>
          <p:nvPr/>
        </p:nvSpPr>
        <p:spPr>
          <a:xfrm>
            <a:off x="10728655" y="6355080"/>
            <a:ext cx="914400" cy="274320"/>
          </a:xfrm>
          <a:prstGeom prst="rect">
            <a:avLst/>
          </a:prstGeom>
          <a:noFill/>
          <a:ln/>
        </p:spPr>
        <p:txBody>
          <a:bodyPr wrap="square" lIns="0" tIns="0" rIns="0" bIns="0" rtlCol="0" anchor="t"/>
          <a:lstStyle/>
          <a:p>
            <a:pPr algn="r" indent="0" marL="0">
              <a:buNone/>
            </a:pPr>
            <a:r>
              <a:rPr lang="en-US" sz="1100" dirty="0">
                <a:solidFill>
                  <a:srgbClr val="5B6472"/>
                </a:solidFill>
                <a:latin typeface="Calibri" pitchFamily="34" charset="0"/>
                <a:ea typeface="Calibri" pitchFamily="34" charset="-122"/>
                <a:cs typeface="Calibri" pitchFamily="34" charset="-120"/>
              </a:rPr>
              <a:t>06</a:t>
            </a:r>
            <a:endParaRPr lang="en-US" sz="1100" dirty="0"/>
          </a:p>
        </p:txBody>
      </p:sp>
      <p:sp>
        <p:nvSpPr>
          <p:cNvPr id="6" name="Shape 4"/>
          <p:cNvSpPr/>
          <p:nvPr/>
        </p:nvSpPr>
        <p:spPr>
          <a:xfrm>
            <a:off x="548640" y="1737360"/>
            <a:ext cx="1889699" cy="868680"/>
          </a:xfrm>
          <a:prstGeom prst="roundRect">
            <a:avLst>
              <a:gd name="adj" fmla="val 12632"/>
            </a:avLst>
          </a:prstGeom>
          <a:solidFill>
            <a:srgbClr val="F3F5F7"/>
          </a:solidFill>
          <a:ln w="12700">
            <a:solidFill>
              <a:srgbClr val="DDE2E7"/>
            </a:solidFill>
            <a:prstDash val="solid"/>
          </a:ln>
        </p:spPr>
        <p:txBody>
          <a:bodyPr/>
          <a:p/>
        </p:txBody>
      </p:sp>
      <p:sp>
        <p:nvSpPr>
          <p:cNvPr id="7" name="Text 5"/>
          <p:cNvSpPr txBox="1"/>
          <p:nvPr/>
        </p:nvSpPr>
        <p:spPr>
          <a:xfrm>
            <a:off x="685800" y="1737360"/>
            <a:ext cx="1615379" cy="868680"/>
          </a:xfrm>
          <a:prstGeom prst="rect">
            <a:avLst/>
          </a:prstGeom>
          <a:noFill/>
          <a:ln/>
        </p:spPr>
        <p:txBody>
          <a:bodyPr wrap="square" lIns="0" tIns="0" rIns="0" bIns="0" rtlCol="0" anchor="ctr"/>
          <a:lstStyle/>
          <a:p>
            <a:pPr algn="ctr" indent="0" marL="0">
              <a:buNone/>
            </a:pPr>
            <a:r>
              <a:rPr lang="en-US" sz="1400" b="1" dirty="0">
                <a:solidFill>
                  <a:srgbClr val="0F1B2D"/>
                </a:solidFill>
                <a:latin typeface="Calibri" pitchFamily="34" charset="0"/>
                <a:ea typeface="Calibri" pitchFamily="34" charset="-122"/>
                <a:cs typeface="Calibri" pitchFamily="34" charset="-120"/>
              </a:rPr>
              <a:t>Admin confirms the cash-in</a:t>
            </a:r>
            <a:endParaRPr lang="en-US" sz="1400" dirty="0"/>
          </a:p>
        </p:txBody>
      </p:sp>
      <p:sp>
        <p:nvSpPr>
          <p:cNvPr id="8" name="Shape 6"/>
          <p:cNvSpPr/>
          <p:nvPr/>
        </p:nvSpPr>
        <p:spPr>
          <a:xfrm>
            <a:off x="2511491" y="2057400"/>
            <a:ext cx="265176" cy="228600"/>
          </a:xfrm>
          <a:prstGeom prst="rightArrow">
            <a:avLst/>
          </a:prstGeom>
          <a:solidFill>
            <a:srgbClr val="0E7C68"/>
          </a:solidFill>
          <a:ln/>
        </p:spPr>
        <p:txBody>
          <a:bodyPr/>
          <a:p/>
        </p:txBody>
      </p:sp>
      <p:sp>
        <p:nvSpPr>
          <p:cNvPr id="9" name="Shape 7"/>
          <p:cNvSpPr/>
          <p:nvPr/>
        </p:nvSpPr>
        <p:spPr>
          <a:xfrm>
            <a:off x="2849819" y="1737360"/>
            <a:ext cx="1889699" cy="868680"/>
          </a:xfrm>
          <a:prstGeom prst="roundRect">
            <a:avLst>
              <a:gd name="adj" fmla="val 12632"/>
            </a:avLst>
          </a:prstGeom>
          <a:solidFill>
            <a:srgbClr val="F3F5F7"/>
          </a:solidFill>
          <a:ln w="12700">
            <a:solidFill>
              <a:srgbClr val="DDE2E7"/>
            </a:solidFill>
            <a:prstDash val="solid"/>
          </a:ln>
        </p:spPr>
        <p:txBody>
          <a:bodyPr/>
          <a:p/>
        </p:txBody>
      </p:sp>
      <p:sp>
        <p:nvSpPr>
          <p:cNvPr id="10" name="Text 8"/>
          <p:cNvSpPr txBox="1"/>
          <p:nvPr/>
        </p:nvSpPr>
        <p:spPr>
          <a:xfrm>
            <a:off x="2986979" y="1737360"/>
            <a:ext cx="1615379" cy="868680"/>
          </a:xfrm>
          <a:prstGeom prst="rect">
            <a:avLst/>
          </a:prstGeom>
          <a:noFill/>
          <a:ln/>
        </p:spPr>
        <p:txBody>
          <a:bodyPr wrap="square" lIns="0" tIns="0" rIns="0" bIns="0" rtlCol="0" anchor="ctr"/>
          <a:lstStyle/>
          <a:p>
            <a:pPr algn="ctr" indent="0" marL="0">
              <a:buNone/>
            </a:pPr>
            <a:r>
              <a:rPr lang="en-US" sz="1400" b="1" dirty="0">
                <a:solidFill>
                  <a:srgbClr val="0F1B2D"/>
                </a:solidFill>
                <a:latin typeface="Calibri" pitchFamily="34" charset="0"/>
                <a:ea typeface="Calibri" pitchFamily="34" charset="-122"/>
                <a:cs typeface="Calibri" pitchFamily="34" charset="-120"/>
              </a:rPr>
              <a:t>Outbox row + Redis XADD</a:t>
            </a:r>
            <a:endParaRPr lang="en-US" sz="1400" dirty="0"/>
          </a:p>
        </p:txBody>
      </p:sp>
      <p:sp>
        <p:nvSpPr>
          <p:cNvPr id="11" name="Shape 9"/>
          <p:cNvSpPr/>
          <p:nvPr/>
        </p:nvSpPr>
        <p:spPr>
          <a:xfrm>
            <a:off x="4812670" y="2057400"/>
            <a:ext cx="265176" cy="228600"/>
          </a:xfrm>
          <a:prstGeom prst="rightArrow">
            <a:avLst/>
          </a:prstGeom>
          <a:solidFill>
            <a:srgbClr val="0E7C68"/>
          </a:solidFill>
          <a:ln/>
        </p:spPr>
        <p:txBody>
          <a:bodyPr/>
          <a:p/>
        </p:txBody>
      </p:sp>
      <p:sp>
        <p:nvSpPr>
          <p:cNvPr id="12" name="Shape 10"/>
          <p:cNvSpPr/>
          <p:nvPr/>
        </p:nvSpPr>
        <p:spPr>
          <a:xfrm>
            <a:off x="5150998" y="1737360"/>
            <a:ext cx="1889699" cy="868680"/>
          </a:xfrm>
          <a:prstGeom prst="roundRect">
            <a:avLst>
              <a:gd name="adj" fmla="val 12632"/>
            </a:avLst>
          </a:prstGeom>
          <a:solidFill>
            <a:srgbClr val="F3F5F7"/>
          </a:solidFill>
          <a:ln w="12700">
            <a:solidFill>
              <a:srgbClr val="DDE2E7"/>
            </a:solidFill>
            <a:prstDash val="solid"/>
          </a:ln>
        </p:spPr>
        <p:txBody>
          <a:bodyPr/>
          <a:p/>
        </p:txBody>
      </p:sp>
      <p:sp>
        <p:nvSpPr>
          <p:cNvPr id="13" name="Text 11"/>
          <p:cNvSpPr txBox="1"/>
          <p:nvPr/>
        </p:nvSpPr>
        <p:spPr>
          <a:xfrm>
            <a:off x="5288158" y="1737360"/>
            <a:ext cx="1615379" cy="868680"/>
          </a:xfrm>
          <a:prstGeom prst="rect">
            <a:avLst/>
          </a:prstGeom>
          <a:noFill/>
          <a:ln/>
        </p:spPr>
        <p:txBody>
          <a:bodyPr wrap="square" lIns="0" tIns="0" rIns="0" bIns="0" rtlCol="0" anchor="ctr"/>
          <a:lstStyle/>
          <a:p>
            <a:pPr algn="ctr" indent="0" marL="0">
              <a:buNone/>
            </a:pPr>
            <a:r>
              <a:rPr lang="en-US" sz="1400" b="1" dirty="0">
                <a:solidFill>
                  <a:srgbClr val="0F1B2D"/>
                </a:solidFill>
                <a:latin typeface="Calibri" pitchFamily="34" charset="0"/>
                <a:ea typeface="Calibri" pitchFamily="34" charset="-122"/>
                <a:cs typeface="Calibri" pitchFamily="34" charset="-120"/>
              </a:rPr>
              <a:t>Worker claims message</a:t>
            </a:r>
            <a:endParaRPr lang="en-US" sz="1400" dirty="0"/>
          </a:p>
        </p:txBody>
      </p:sp>
      <p:sp>
        <p:nvSpPr>
          <p:cNvPr id="14" name="Shape 12"/>
          <p:cNvSpPr/>
          <p:nvPr/>
        </p:nvSpPr>
        <p:spPr>
          <a:xfrm>
            <a:off x="7113849" y="2057400"/>
            <a:ext cx="265176" cy="228600"/>
          </a:xfrm>
          <a:prstGeom prst="rightArrow">
            <a:avLst/>
          </a:prstGeom>
          <a:solidFill>
            <a:srgbClr val="0E7C68"/>
          </a:solidFill>
          <a:ln/>
        </p:spPr>
        <p:txBody>
          <a:bodyPr/>
          <a:p/>
        </p:txBody>
      </p:sp>
      <p:sp>
        <p:nvSpPr>
          <p:cNvPr id="15" name="Shape 13"/>
          <p:cNvSpPr/>
          <p:nvPr/>
        </p:nvSpPr>
        <p:spPr>
          <a:xfrm>
            <a:off x="7452177" y="1737360"/>
            <a:ext cx="1889699" cy="868680"/>
          </a:xfrm>
          <a:prstGeom prst="roundRect">
            <a:avLst>
              <a:gd name="adj" fmla="val 12632"/>
            </a:avLst>
          </a:prstGeom>
          <a:solidFill>
            <a:srgbClr val="F3F5F7"/>
          </a:solidFill>
          <a:ln w="12700">
            <a:solidFill>
              <a:srgbClr val="DDE2E7"/>
            </a:solidFill>
            <a:prstDash val="solid"/>
          </a:ln>
        </p:spPr>
        <p:txBody>
          <a:bodyPr/>
          <a:p/>
        </p:txBody>
      </p:sp>
      <p:sp>
        <p:nvSpPr>
          <p:cNvPr id="16" name="Text 14"/>
          <p:cNvSpPr txBox="1"/>
          <p:nvPr/>
        </p:nvSpPr>
        <p:spPr>
          <a:xfrm>
            <a:off x="7589337" y="1737360"/>
            <a:ext cx="1615379" cy="868680"/>
          </a:xfrm>
          <a:prstGeom prst="rect">
            <a:avLst/>
          </a:prstGeom>
          <a:noFill/>
          <a:ln/>
        </p:spPr>
        <p:txBody>
          <a:bodyPr wrap="square" lIns="0" tIns="0" rIns="0" bIns="0" rtlCol="0" anchor="ctr"/>
          <a:lstStyle/>
          <a:p>
            <a:pPr algn="ctr" indent="0" marL="0">
              <a:buNone/>
            </a:pPr>
            <a:r>
              <a:rPr lang="en-US" sz="1400" b="1" dirty="0">
                <a:solidFill>
                  <a:srgbClr val="0F1B2D"/>
                </a:solidFill>
                <a:latin typeface="Calibri" pitchFamily="34" charset="0"/>
                <a:ea typeface="Calibri" pitchFamily="34" charset="-122"/>
                <a:cs typeface="Calibri" pitchFamily="34" charset="-120"/>
              </a:rPr>
              <a:t>XRPL Testnet Payment</a:t>
            </a:r>
            <a:endParaRPr lang="en-US" sz="1400" dirty="0"/>
          </a:p>
        </p:txBody>
      </p:sp>
      <p:sp>
        <p:nvSpPr>
          <p:cNvPr id="17" name="Shape 15"/>
          <p:cNvSpPr/>
          <p:nvPr/>
        </p:nvSpPr>
        <p:spPr>
          <a:xfrm>
            <a:off x="9415028" y="2057400"/>
            <a:ext cx="265176" cy="228600"/>
          </a:xfrm>
          <a:prstGeom prst="rightArrow">
            <a:avLst/>
          </a:prstGeom>
          <a:solidFill>
            <a:srgbClr val="0E7C68"/>
          </a:solidFill>
          <a:ln/>
        </p:spPr>
        <p:txBody>
          <a:bodyPr/>
          <a:p/>
        </p:txBody>
      </p:sp>
      <p:sp>
        <p:nvSpPr>
          <p:cNvPr id="18" name="Shape 16"/>
          <p:cNvSpPr/>
          <p:nvPr/>
        </p:nvSpPr>
        <p:spPr>
          <a:xfrm>
            <a:off x="9753356" y="1737360"/>
            <a:ext cx="1889699" cy="868680"/>
          </a:xfrm>
          <a:prstGeom prst="roundRect">
            <a:avLst>
              <a:gd name="adj" fmla="val 12632"/>
            </a:avLst>
          </a:prstGeom>
          <a:solidFill>
            <a:srgbClr val="0F1B2D"/>
          </a:solidFill>
          <a:ln/>
        </p:spPr>
        <p:txBody>
          <a:bodyPr/>
          <a:p/>
        </p:txBody>
      </p:sp>
      <p:sp>
        <p:nvSpPr>
          <p:cNvPr id="19" name="Text 17"/>
          <p:cNvSpPr txBox="1"/>
          <p:nvPr/>
        </p:nvSpPr>
        <p:spPr>
          <a:xfrm>
            <a:off x="9890516" y="1737360"/>
            <a:ext cx="1615379"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 + credit in one commit</a:t>
            </a:r>
            <a:endParaRPr lang="en-US" sz="1400" dirty="0"/>
          </a:p>
        </p:txBody>
      </p:sp>
      <p:sp>
        <p:nvSpPr>
          <p:cNvPr id="20" name="Text 18"/>
          <p:cNvSpPr txBox="1"/>
          <p:nvPr/>
        </p:nvSpPr>
        <p:spPr>
          <a:xfrm>
            <a:off x="548640" y="2971800"/>
            <a:ext cx="6400800"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Guarantees</a:t>
            </a:r>
            <a:endParaRPr lang="en-US" sz="1800" dirty="0"/>
          </a:p>
        </p:txBody>
      </p:sp>
      <p:sp>
        <p:nvSpPr>
          <p:cNvPr id="21" name="Text 19"/>
          <p:cNvSpPr txBox="1"/>
          <p:nvPr/>
        </p:nvSpPr>
        <p:spPr>
          <a:xfrm>
            <a:off x="548640" y="3429000"/>
            <a:ext cx="6400800" cy="26517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45505F"/>
                </a:solidFill>
                <a:latin typeface="Calibri" pitchFamily="34" charset="0"/>
                <a:ea typeface="Calibri" pitchFamily="34" charset="-122"/>
                <a:cs typeface="Calibri" pitchFamily="34" charset="-120"/>
              </a:rPr>
              <a:t>A message is acknowledged only once it has completed or failed; entries left by a crash are reclaimed</a:t>
            </a:r>
            <a:endParaRPr lang="en-US" sz="1500" dirty="0"/>
          </a:p>
          <a:p>
            <a:pPr marL="342900" indent="-342900">
              <a:spcAft>
                <a:spcPts val="800"/>
              </a:spcAft>
              <a:buSzPct val="100000"/>
              <a:buChar char="•"/>
            </a:pPr>
            <a:r>
              <a:rPr lang="en-US" sz="1500" dirty="0">
                <a:solidFill>
                  <a:srgbClr val="45505F"/>
                </a:solidFill>
                <a:latin typeface="Calibri" pitchFamily="34" charset="0"/>
                <a:ea typeface="Calibri" pitchFamily="34" charset="-122"/>
                <a:cs typeface="Calibri" pitchFamily="34" charset="-120"/>
              </a:rPr>
              <a:t>Before paying, it checks the database and the ledger for an earlier Payment with this remittance id, so it never pays twice</a:t>
            </a:r>
            <a:endParaRPr lang="en-US" sz="1500" dirty="0"/>
          </a:p>
          <a:p>
            <a:pPr marL="342900" indent="-342900">
              <a:spcAft>
                <a:spcPts val="800"/>
              </a:spcAft>
              <a:buSzPct val="100000"/>
              <a:buChar char="•"/>
            </a:pPr>
            <a:r>
              <a:rPr lang="en-US" sz="1500" dirty="0">
                <a:solidFill>
                  <a:srgbClr val="45505F"/>
                </a:solidFill>
                <a:latin typeface="Calibri" pitchFamily="34" charset="0"/>
                <a:ea typeface="Calibri" pitchFamily="34" charset="-122"/>
                <a:cs typeface="Calibri" pitchFamily="34" charset="-120"/>
              </a:rPr>
              <a:t>The Payment memo carries the remittance id</a:t>
            </a:r>
            <a:endParaRPr lang="en-US" sz="1500" dirty="0"/>
          </a:p>
          <a:p>
            <a:pPr marL="342900" indent="-342900">
              <a:spcAft>
                <a:spcPts val="800"/>
              </a:spcAft>
              <a:buSzPct val="100000"/>
              <a:buChar char="•"/>
            </a:pPr>
            <a:r>
              <a:rPr lang="en-US" sz="1500" dirty="0">
                <a:solidFill>
                  <a:srgbClr val="45505F"/>
                </a:solidFill>
                <a:latin typeface="Calibri" pitchFamily="34" charset="0"/>
                <a:ea typeface="Calibri" pitchFamily="34" charset="-122"/>
                <a:cs typeface="Calibri" pitchFamily="34" charset="-120"/>
              </a:rPr>
              <a:t>The database row is the truth; a lost XADD is republished</a:t>
            </a:r>
            <a:endParaRPr lang="en-US" sz="1500" dirty="0"/>
          </a:p>
        </p:txBody>
      </p:sp>
      <p:sp>
        <p:nvSpPr>
          <p:cNvPr id="22" name="Shape 20"/>
          <p:cNvSpPr/>
          <p:nvPr/>
        </p:nvSpPr>
        <p:spPr>
          <a:xfrm>
            <a:off x="7406640" y="2971800"/>
            <a:ext cx="4236415" cy="2103120"/>
          </a:xfrm>
          <a:prstGeom prst="roundRect">
            <a:avLst>
              <a:gd name="adj" fmla="val 5217"/>
            </a:avLst>
          </a:prstGeom>
          <a:solidFill>
            <a:srgbClr val="E3F1ED"/>
          </a:solidFill>
          <a:ln/>
        </p:spPr>
        <p:txBody>
          <a:bodyPr/>
          <a:p/>
        </p:txBody>
      </p:sp>
      <p:sp>
        <p:nvSpPr>
          <p:cNvPr id="23" name="Text 21"/>
          <p:cNvSpPr txBox="1"/>
          <p:nvPr/>
        </p:nvSpPr>
        <p:spPr>
          <a:xfrm>
            <a:off x="7726680" y="3246120"/>
            <a:ext cx="3596335"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Hybrid wallet</a:t>
            </a:r>
            <a:endParaRPr lang="en-US" sz="1800" dirty="0"/>
          </a:p>
        </p:txBody>
      </p:sp>
      <p:sp>
        <p:nvSpPr>
          <p:cNvPr id="24" name="Text 22"/>
          <p:cNvSpPr txBox="1"/>
          <p:nvPr/>
        </p:nvSpPr>
        <p:spPr>
          <a:xfrm>
            <a:off x="7726680" y="3749040"/>
            <a:ext cx="3596335" cy="1188720"/>
          </a:xfrm>
          <a:prstGeom prst="rect">
            <a:avLst/>
          </a:prstGeom>
          <a:noFill/>
          <a:ln/>
        </p:spPr>
        <p:txBody>
          <a:bodyPr wrap="square" lIns="0" tIns="0" rIns="0" bIns="0" rtlCol="0" anchor="t"/>
          <a:lstStyle/>
          <a:p>
            <a:pPr indent="0" marL="0">
              <a:buNone/>
            </a:pPr>
            <a:r>
              <a:rPr lang="en-US" sz="1500" dirty="0">
                <a:solidFill>
                  <a:srgbClr val="1B2433"/>
                </a:solidFill>
                <a:latin typeface="Calibri" pitchFamily="34" charset="0"/>
                <a:ea typeface="Calibri" pitchFamily="34" charset="-122"/>
                <a:cs typeface="Calibri" pitchFamily="34" charset="-120"/>
              </a:rPr>
              <a:t>One platform treasury holds the UCTUSD. Each recipient gets a real custodial Testnet account on first settlement, so every payout is its own transaction.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t"/>
          <a:lstStyle/>
          <a:p>
            <a:pPr indent="0" marL="0">
              <a:buNone/>
            </a:pPr>
            <a:r>
              <a:rPr lang="en-US" sz="1200" b="1" spc="300" kern="0" dirty="0">
                <a:solidFill>
                  <a:srgbClr val="0E7C68"/>
                </a:solidFill>
                <a:latin typeface="Calibri" pitchFamily="34" charset="0"/>
                <a:ea typeface="Calibri" pitchFamily="34" charset="-122"/>
                <a:cs typeface="Calibri" pitchFamily="34" charset="-120"/>
              </a:rPr>
              <a:t>FEE MODEL</a:t>
            </a:r>
            <a:endParaRPr lang="en-US" sz="1200" dirty="0"/>
          </a:p>
        </p:txBody>
      </p:sp>
      <p:sp>
        <p:nvSpPr>
          <p:cNvPr id="3" name="Text 1"/>
          <p:cNvSpPr txBox="1"/>
          <p:nvPr/>
        </p:nvSpPr>
        <p:spPr>
          <a:xfrm>
            <a:off x="548640" y="749808"/>
            <a:ext cx="11094415" cy="685800"/>
          </a:xfrm>
          <a:prstGeom prst="rect">
            <a:avLst/>
          </a:prstGeom>
          <a:noFill/>
          <a:ln/>
        </p:spPr>
        <p:txBody>
          <a:bodyPr wrap="square" lIns="0" tIns="0" rIns="0" bIns="0" rtlCol="0" anchor="t"/>
          <a:lstStyle/>
          <a:p>
            <a:pPr indent="0" marL="0">
              <a:buNone/>
            </a:pPr>
            <a:r>
              <a:rPr lang="en-US" sz="3200" b="1" dirty="0">
                <a:solidFill>
                  <a:srgbClr val="0F1B2D"/>
                </a:solidFill>
                <a:latin typeface="Cambria" pitchFamily="34" charset="0"/>
                <a:ea typeface="Cambria" pitchFamily="34" charset="-122"/>
                <a:cs typeface="Cambria" pitchFamily="34" charset="-120"/>
              </a:rPr>
              <a:t>Every fee is visible before you commit</a:t>
            </a:r>
            <a:endParaRPr lang="en-US" sz="3200" dirty="0"/>
          </a:p>
        </p:txBody>
      </p:sp>
      <p:sp>
        <p:nvSpPr>
          <p:cNvPr id="4" name="Text 2"/>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Baobab · Group 3</a:t>
            </a:r>
            <a:endParaRPr lang="en-US" sz="1100" dirty="0"/>
          </a:p>
        </p:txBody>
      </p:sp>
      <p:sp>
        <p:nvSpPr>
          <p:cNvPr id="5" name="Text 3"/>
          <p:cNvSpPr txBox="1"/>
          <p:nvPr/>
        </p:nvSpPr>
        <p:spPr>
          <a:xfrm>
            <a:off x="10728655" y="6355080"/>
            <a:ext cx="914400" cy="274320"/>
          </a:xfrm>
          <a:prstGeom prst="rect">
            <a:avLst/>
          </a:prstGeom>
          <a:noFill/>
          <a:ln/>
        </p:spPr>
        <p:txBody>
          <a:bodyPr wrap="square" lIns="0" tIns="0" rIns="0" bIns="0" rtlCol="0" anchor="t"/>
          <a:lstStyle/>
          <a:p>
            <a:pPr algn="r" indent="0" marL="0">
              <a:buNone/>
            </a:pPr>
            <a:r>
              <a:rPr lang="en-US" sz="1100" dirty="0">
                <a:solidFill>
                  <a:srgbClr val="5B6472"/>
                </a:solidFill>
                <a:latin typeface="Calibri" pitchFamily="34" charset="0"/>
                <a:ea typeface="Calibri" pitchFamily="34" charset="-122"/>
                <a:cs typeface="Calibri" pitchFamily="34" charset="-120"/>
              </a:rPr>
              <a:t>07</a:t>
            </a:r>
            <a:endParaRPr lang="en-US" sz="1100" dirty="0"/>
          </a:p>
        </p:txBody>
      </p:sp>
      <p:sp>
        <p:nvSpPr>
          <p:cNvPr id="6" name="Shape 4"/>
          <p:cNvSpPr/>
          <p:nvPr/>
        </p:nvSpPr>
        <p:spPr>
          <a:xfrm>
            <a:off x="548640" y="1737360"/>
            <a:ext cx="5303520" cy="2331720"/>
          </a:xfrm>
          <a:prstGeom prst="roundRect">
            <a:avLst>
              <a:gd name="adj" fmla="val 4706"/>
            </a:avLst>
          </a:prstGeom>
          <a:solidFill>
            <a:srgbClr val="0F1B2D"/>
          </a:solidFill>
          <a:ln/>
        </p:spPr>
        <p:txBody>
          <a:bodyPr/>
          <a:p/>
        </p:txBody>
      </p:sp>
      <p:sp>
        <p:nvSpPr>
          <p:cNvPr id="7" name="Text 5"/>
          <p:cNvSpPr txBox="1"/>
          <p:nvPr/>
        </p:nvSpPr>
        <p:spPr>
          <a:xfrm>
            <a:off x="914400" y="1920240"/>
            <a:ext cx="4572000" cy="1965960"/>
          </a:xfrm>
          <a:prstGeom prst="rect">
            <a:avLst/>
          </a:prstGeom>
          <a:noFill/>
          <a:ln/>
        </p:spPr>
        <p:txBody>
          <a:bodyPr wrap="square" lIns="0" tIns="0" rIns="0" bIns="0" rtlCol="0" anchor="ctr"/>
          <a:lstStyle/>
          <a:p>
            <a:pPr indent="0" marL="0">
              <a:lnSpc>
                <a:spcPct val="130000"/>
              </a:lnSpc>
              <a:buNone/>
            </a:pPr>
            <a:r>
              <a:rPr lang="en-US" sz="1800" dirty="0">
                <a:solidFill>
                  <a:srgbClr val="FFFFFF"/>
                </a:solidFill>
                <a:latin typeface="Courier New" pitchFamily="34" charset="0"/>
                <a:ea typeface="Courier New" pitchFamily="34" charset="-122"/>
                <a:cs typeface="Courier New" pitchFamily="34" charset="-120"/>
              </a:rPr>
              <a:t>fee = R25 + 1% × send</a:t>
            </a:r>
            <a:endParaRPr lang="en-US" sz="1800" dirty="0"/>
          </a:p>
          <a:p>
            <a:pPr indent="0" marL="0">
              <a:lnSpc>
                <a:spcPct val="130000"/>
              </a:lnSpc>
              <a:buNone/>
            </a:pPr>
            <a:r>
              <a:rPr lang="en-US" sz="1800" dirty="0">
                <a:solidFill>
                  <a:srgbClr val="FFFFFF"/>
                </a:solidFill>
                <a:latin typeface="Courier New" pitchFamily="34" charset="0"/>
                <a:ea typeface="Courier New" pitchFamily="34" charset="-122"/>
                <a:cs typeface="Courier New" pitchFamily="34" charset="-120"/>
              </a:rPr>
              <a:t>rate = mid-market × 1.02</a:t>
            </a:r>
            <a:endParaRPr lang="en-US" sz="1800" dirty="0"/>
          </a:p>
          <a:p>
            <a:pPr indent="0" marL="0">
              <a:lnSpc>
                <a:spcPct val="130000"/>
              </a:lnSpc>
              <a:buNone/>
            </a:pPr>
            <a:r>
              <a:rPr lang="en-US" sz="1800" dirty="0">
                <a:solidFill>
                  <a:srgbClr val="FFFFFF"/>
                </a:solidFill>
                <a:latin typeface="Courier New" pitchFamily="34" charset="0"/>
                <a:ea typeface="Courier New" pitchFamily="34" charset="-122"/>
                <a:cs typeface="Courier New" pitchFamily="34" charset="-120"/>
              </a:rPr>
              <a:t>net = send − fee</a:t>
            </a:r>
            <a:endParaRPr lang="en-US" sz="1800" dirty="0"/>
          </a:p>
          <a:p>
            <a:pPr indent="0" marL="0">
              <a:lnSpc>
                <a:spcPct val="130000"/>
              </a:lnSpc>
              <a:buNone/>
            </a:pPr>
            <a:r>
              <a:rPr lang="en-US" sz="1800" dirty="0">
                <a:solidFill>
                  <a:srgbClr val="F2B84B"/>
                </a:solidFill>
                <a:latin typeface="Courier New" pitchFamily="34" charset="0"/>
                <a:ea typeface="Courier New" pitchFamily="34" charset="-122"/>
                <a:cs typeface="Courier New" pitchFamily="34" charset="-120"/>
              </a:rPr>
              <a:t>UCTUSD = net ÷ rate</a:t>
            </a:r>
            <a:endParaRPr lang="en-US" sz="1800" dirty="0"/>
          </a:p>
        </p:txBody>
      </p:sp>
      <p:sp>
        <p:nvSpPr>
          <p:cNvPr id="8" name="Text 6"/>
          <p:cNvSpPr txBox="1"/>
          <p:nvPr/>
        </p:nvSpPr>
        <p:spPr>
          <a:xfrm>
            <a:off x="548640" y="4297680"/>
            <a:ext cx="5303520" cy="1463040"/>
          </a:xfrm>
          <a:prstGeom prst="rect">
            <a:avLst/>
          </a:prstGeom>
          <a:noFill/>
          <a:ln/>
        </p:spPr>
        <p:txBody>
          <a:bodyPr wrap="square" lIns="0" tIns="0" rIns="0" bIns="0" rtlCol="0" anchor="t"/>
          <a:lstStyle/>
          <a:p>
            <a:pPr indent="0" marL="0">
              <a:buNone/>
            </a:pPr>
            <a:r>
              <a:rPr lang="en-US" sz="1500" dirty="0">
                <a:solidFill>
                  <a:srgbClr val="45505F"/>
                </a:solidFill>
                <a:latin typeface="Calibri" pitchFamily="34" charset="0"/>
                <a:ea typeface="Calibri" pitchFamily="34" charset="-122"/>
                <a:cs typeface="Calibri" pitchFamily="34" charset="-120"/>
              </a:rPr>
              <a:t>Seeded defaults, editable by an admin: R25 fixed, 1% of the send, 2% FX margin, 1.5% at cash-out. A send the fee would swallow is rejected (HTTP 422).</a:t>
            </a:r>
            <a:endParaRPr lang="en-US" sz="1500" dirty="0"/>
          </a:p>
        </p:txBody>
      </p:sp>
      <p:sp>
        <p:nvSpPr>
          <p:cNvPr id="9" name="Text 7"/>
          <p:cNvSpPr txBox="1"/>
          <p:nvPr/>
        </p:nvSpPr>
        <p:spPr>
          <a:xfrm>
            <a:off x="6309360" y="1737360"/>
            <a:ext cx="5333695"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Worked example: R1,370 at 18.50 ZAR/USD</a:t>
            </a:r>
            <a:endParaRPr lang="en-US" sz="1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309360" y="2240280"/>
          <a:ext cx="5333695" cy="914400"/>
        </p:xfrm>
        <a:graphic>
          <a:graphicData uri="http://schemas.openxmlformats.org/drawingml/2006/table">
            <a:tbl>
              <a:tblPr/>
              <a:tblGrid>
                <a:gridCol w="3200217"/>
                <a:gridCol w="2133478"/>
              </a:tblGrid>
              <a:tr h="4114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Step</a:t>
                      </a:r>
                      <a:endParaRPr lang="en-US" sz="1500" dirty="0">
                        <a:latin typeface="Calibri" charset="0"/>
                        <a:ea typeface="Calibri" charset="0"/>
                        <a:cs typeface="Calibri" charset="0"/>
                      </a:endParaRPr>
                    </a:p>
                  </a:txBody>
                  <a:tcPr marL="127000" marR="1270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0F1B2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Amount</a:t>
                      </a:r>
                      <a:endParaRPr lang="en-US" sz="1500" dirty="0">
                        <a:latin typeface="Calibri" charset="0"/>
                        <a:ea typeface="Calibri" charset="0"/>
                        <a:cs typeface="Calibri" charset="0"/>
                      </a:endParaRPr>
                    </a:p>
                  </a:txBody>
                  <a:tcPr marL="127000" marR="1270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0F1B2D"/>
                    </a:solidFill>
                  </a:tcPr>
                </a:tc>
              </a:tr>
              <a:tr h="411480">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Transaction fee</a:t>
                      </a:r>
                      <a:endParaRPr lang="en-US" sz="1500" dirty="0">
                        <a:latin typeface="Calibri" charset="0"/>
                        <a:ea typeface="Calibri" charset="0"/>
                        <a:cs typeface="Calibri" charset="0"/>
                      </a:endParaRPr>
                    </a:p>
                  </a:txBody>
                  <a:tcPr marL="127000" marR="1270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tcPr>
                </a:tc>
                <a:tc>
                  <a:txBody>
                    <a:bodyPr/>
                    <a:lstStyle/>
                    <a:p>
                      <a:pPr algn="r" indent="0" marL="0">
                        <a:buNone/>
                      </a:pPr>
                      <a:r>
                        <a:rPr lang="en-US" sz="1500" dirty="0">
                          <a:solidFill>
                            <a:srgbClr val="1B2433"/>
                          </a:solidFill>
                          <a:latin typeface="Calibri" pitchFamily="34" charset="0"/>
                          <a:ea typeface="Calibri" pitchFamily="34" charset="-122"/>
                          <a:cs typeface="Calibri" pitchFamily="34" charset="-120"/>
                        </a:rPr>
                        <a:t>R38.70</a:t>
                      </a:r>
                      <a:endParaRPr lang="en-US" sz="1500" dirty="0">
                        <a:latin typeface="Calibri" charset="0"/>
                        <a:ea typeface="Calibri" charset="0"/>
                        <a:cs typeface="Calibri" charset="0"/>
                      </a:endParaRPr>
                    </a:p>
                  </a:txBody>
                  <a:tcPr marL="127000" marR="1270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tcPr>
                </a:tc>
              </a:tr>
              <a:tr h="411480">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Effective rate</a:t>
                      </a:r>
                      <a:endParaRPr lang="en-US" sz="1500" dirty="0">
                        <a:latin typeface="Calibri" charset="0"/>
                        <a:ea typeface="Calibri" charset="0"/>
                        <a:cs typeface="Calibri" charset="0"/>
                      </a:endParaRPr>
                    </a:p>
                  </a:txBody>
                  <a:tcPr marL="127000" marR="1270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tcPr>
                </a:tc>
                <a:tc>
                  <a:txBody>
                    <a:bodyPr/>
                    <a:lstStyle/>
                    <a:p>
                      <a:pPr algn="r" indent="0" marL="0">
                        <a:buNone/>
                      </a:pPr>
                      <a:r>
                        <a:rPr lang="en-US" sz="1500" dirty="0">
                          <a:solidFill>
                            <a:srgbClr val="1B2433"/>
                          </a:solidFill>
                          <a:latin typeface="Calibri" pitchFamily="34" charset="0"/>
                          <a:ea typeface="Calibri" pitchFamily="34" charset="-122"/>
                          <a:cs typeface="Calibri" pitchFamily="34" charset="-120"/>
                        </a:rPr>
                        <a:t>18.87</a:t>
                      </a:r>
                      <a:endParaRPr lang="en-US" sz="1500" dirty="0">
                        <a:latin typeface="Calibri" charset="0"/>
                        <a:ea typeface="Calibri" charset="0"/>
                        <a:cs typeface="Calibri" charset="0"/>
                      </a:endParaRPr>
                    </a:p>
                  </a:txBody>
                  <a:tcPr marL="127000" marR="1270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tcPr>
                </a:tc>
              </a:tr>
              <a:tr h="411480">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Net after fee</a:t>
                      </a:r>
                      <a:endParaRPr lang="en-US" sz="1500" dirty="0">
                        <a:latin typeface="Calibri" charset="0"/>
                        <a:ea typeface="Calibri" charset="0"/>
                        <a:cs typeface="Calibri" charset="0"/>
                      </a:endParaRPr>
                    </a:p>
                  </a:txBody>
                  <a:tcPr marL="127000" marR="1270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tcPr>
                </a:tc>
                <a:tc>
                  <a:txBody>
                    <a:bodyPr/>
                    <a:lstStyle/>
                    <a:p>
                      <a:pPr algn="r" indent="0" marL="0">
                        <a:buNone/>
                      </a:pPr>
                      <a:r>
                        <a:rPr lang="en-US" sz="1500" dirty="0">
                          <a:solidFill>
                            <a:srgbClr val="1B2433"/>
                          </a:solidFill>
                          <a:latin typeface="Calibri" pitchFamily="34" charset="0"/>
                          <a:ea typeface="Calibri" pitchFamily="34" charset="-122"/>
                          <a:cs typeface="Calibri" pitchFamily="34" charset="-120"/>
                        </a:rPr>
                        <a:t>R1,331.30</a:t>
                      </a:r>
                      <a:endParaRPr lang="en-US" sz="1500" dirty="0">
                        <a:latin typeface="Calibri" charset="0"/>
                        <a:ea typeface="Calibri" charset="0"/>
                        <a:cs typeface="Calibri" charset="0"/>
                      </a:endParaRPr>
                    </a:p>
                  </a:txBody>
                  <a:tcPr marL="127000" marR="1270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tcPr>
                </a:tc>
              </a:tr>
              <a:tr h="411480">
                <a:tc>
                  <a:txBody>
                    <a:bodyPr/>
                    <a:lstStyle/>
                    <a:p>
                      <a:pPr indent="0" marL="0">
                        <a:buNone/>
                      </a:pPr>
                      <a:r>
                        <a:rPr lang="en-US" sz="1500" b="1" dirty="0">
                          <a:solidFill>
                            <a:srgbClr val="1B2433"/>
                          </a:solidFill>
                          <a:latin typeface="Calibri" pitchFamily="34" charset="0"/>
                          <a:ea typeface="Calibri" pitchFamily="34" charset="-122"/>
                          <a:cs typeface="Calibri" pitchFamily="34" charset="-120"/>
                        </a:rPr>
                        <a:t>Recipient receives</a:t>
                      </a:r>
                      <a:endParaRPr lang="en-US" sz="1500" dirty="0">
                        <a:latin typeface="Calibri" charset="0"/>
                        <a:ea typeface="Calibri" charset="0"/>
                        <a:cs typeface="Calibri" charset="0"/>
                      </a:endParaRPr>
                    </a:p>
                  </a:txBody>
                  <a:tcPr marL="127000" marR="1270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E3F1ED"/>
                    </a:solidFill>
                  </a:tcPr>
                </a:tc>
                <a:tc>
                  <a:txBody>
                    <a:bodyPr/>
                    <a:lstStyle/>
                    <a:p>
                      <a:pPr algn="r" indent="0" marL="0">
                        <a:buNone/>
                      </a:pPr>
                      <a:r>
                        <a:rPr lang="en-US" sz="1500" b="1" dirty="0">
                          <a:solidFill>
                            <a:srgbClr val="1B2433"/>
                          </a:solidFill>
                          <a:latin typeface="Calibri" pitchFamily="34" charset="0"/>
                          <a:ea typeface="Calibri" pitchFamily="34" charset="-122"/>
                          <a:cs typeface="Calibri" pitchFamily="34" charset="-120"/>
                        </a:rPr>
                        <a:t>70.55 UCTUSD</a:t>
                      </a:r>
                      <a:endParaRPr lang="en-US" sz="1500" dirty="0">
                        <a:latin typeface="Calibri" charset="0"/>
                        <a:ea typeface="Calibri" charset="0"/>
                        <a:cs typeface="Calibri" charset="0"/>
                      </a:endParaRPr>
                    </a:p>
                  </a:txBody>
                  <a:tcPr marL="127000" marR="1270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E3F1ED"/>
                    </a:solidFill>
                  </a:tcPr>
                </a:tc>
              </a:tr>
            </a:tbl>
          </a:graphicData>
        </a:graphic>
      </p:graphicFrame>
      <p:sp>
        <p:nvSpPr>
          <p:cNvPr id="11" name="Shape 8"/>
          <p:cNvSpPr/>
          <p:nvPr/>
        </p:nvSpPr>
        <p:spPr>
          <a:xfrm>
            <a:off x="6309360" y="4754880"/>
            <a:ext cx="5333695" cy="1051560"/>
          </a:xfrm>
          <a:prstGeom prst="roundRect">
            <a:avLst>
              <a:gd name="adj" fmla="val 10435"/>
            </a:avLst>
          </a:prstGeom>
          <a:solidFill>
            <a:srgbClr val="FBEBC8"/>
          </a:solidFill>
          <a:ln/>
        </p:spPr>
        <p:txBody>
          <a:bodyPr/>
          <a:p/>
        </p:txBody>
      </p:sp>
      <p:sp>
        <p:nvSpPr>
          <p:cNvPr id="12" name="Text 9"/>
          <p:cNvSpPr txBox="1"/>
          <p:nvPr/>
        </p:nvSpPr>
        <p:spPr>
          <a:xfrm>
            <a:off x="6583680" y="4754880"/>
            <a:ext cx="4785055" cy="1051560"/>
          </a:xfrm>
          <a:prstGeom prst="rect">
            <a:avLst/>
          </a:prstGeom>
          <a:noFill/>
          <a:ln/>
        </p:spPr>
        <p:txBody>
          <a:bodyPr wrap="square" lIns="0" tIns="0" rIns="0" bIns="0" rtlCol="0" anchor="ctr"/>
          <a:lstStyle/>
          <a:p>
            <a:pPr indent="0" marL="0">
              <a:buNone/>
            </a:pPr>
            <a:r>
              <a:rPr lang="en-US" sz="1500" b="1" dirty="0">
                <a:solidFill>
                  <a:srgbClr val="1B2433"/>
                </a:solidFill>
                <a:latin typeface="Calibri" pitchFamily="34" charset="0"/>
                <a:ea typeface="Calibri" pitchFamily="34" charset="-122"/>
                <a:cs typeface="Calibri" pitchFamily="34" charset="-120"/>
              </a:rPr>
              <a:t>R38.70</a:t>
            </a:r>
            <a:pPr indent="0" marL="0">
              <a:buNone/>
            </a:pPr>
            <a:r>
              <a:rPr lang="en-US" sz="1500" dirty="0">
                <a:solidFill>
                  <a:srgbClr val="1B2433"/>
                </a:solidFill>
                <a:latin typeface="Calibri" pitchFamily="34" charset="0"/>
                <a:ea typeface="Calibri" pitchFamily="34" charset="-122"/>
                <a:cs typeface="Calibri" pitchFamily="34" charset="-120"/>
              </a:rPr>
              <a:t> against a R214–R217 flat fee at Western Union or MoneyGram for the same send. Indicative only.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t"/>
          <a:lstStyle/>
          <a:p>
            <a:pPr indent="0" marL="0">
              <a:buNone/>
            </a:pPr>
            <a:r>
              <a:rPr lang="en-US" sz="1200" b="1" spc="300" kern="0" dirty="0">
                <a:solidFill>
                  <a:srgbClr val="0E7C68"/>
                </a:solidFill>
                <a:latin typeface="Calibri" pitchFamily="34" charset="0"/>
                <a:ea typeface="Calibri" pitchFamily="34" charset="-122"/>
                <a:cs typeface="Calibri" pitchFamily="34" charset="-120"/>
              </a:rPr>
              <a:t>SYSTEM DEMONSTRATION</a:t>
            </a:r>
            <a:endParaRPr lang="en-US" sz="1200" dirty="0"/>
          </a:p>
        </p:txBody>
      </p:sp>
      <p:sp>
        <p:nvSpPr>
          <p:cNvPr id="3" name="Text 1"/>
          <p:cNvSpPr txBox="1"/>
          <p:nvPr/>
        </p:nvSpPr>
        <p:spPr>
          <a:xfrm>
            <a:off x="548640" y="749808"/>
            <a:ext cx="11094415" cy="685800"/>
          </a:xfrm>
          <a:prstGeom prst="rect">
            <a:avLst/>
          </a:prstGeom>
          <a:noFill/>
          <a:ln/>
        </p:spPr>
        <p:txBody>
          <a:bodyPr wrap="square" lIns="0" tIns="0" rIns="0" bIns="0" rtlCol="0" anchor="t"/>
          <a:lstStyle/>
          <a:p>
            <a:pPr indent="0" marL="0">
              <a:buNone/>
            </a:pPr>
            <a:r>
              <a:rPr lang="en-US" sz="3200" b="1" dirty="0">
                <a:solidFill>
                  <a:srgbClr val="0F1B2D"/>
                </a:solidFill>
                <a:latin typeface="Cambria" pitchFamily="34" charset="0"/>
                <a:ea typeface="Cambria" pitchFamily="34" charset="-122"/>
                <a:cs typeface="Cambria" pitchFamily="34" charset="-120"/>
              </a:rPr>
              <a:t>What the live demo shows</a:t>
            </a:r>
            <a:endParaRPr lang="en-US" sz="3200" dirty="0"/>
          </a:p>
        </p:txBody>
      </p:sp>
      <p:sp>
        <p:nvSpPr>
          <p:cNvPr id="4" name="Text 2"/>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Baobab · Group 3 · UI on localhost:5173, API on :8000</a:t>
            </a:r>
            <a:endParaRPr lang="en-US" sz="1100" dirty="0"/>
          </a:p>
        </p:txBody>
      </p:sp>
      <p:sp>
        <p:nvSpPr>
          <p:cNvPr id="5" name="Text 3"/>
          <p:cNvSpPr txBox="1"/>
          <p:nvPr/>
        </p:nvSpPr>
        <p:spPr>
          <a:xfrm>
            <a:off x="10728655" y="6355080"/>
            <a:ext cx="914400" cy="274320"/>
          </a:xfrm>
          <a:prstGeom prst="rect">
            <a:avLst/>
          </a:prstGeom>
          <a:noFill/>
          <a:ln/>
        </p:spPr>
        <p:txBody>
          <a:bodyPr wrap="square" lIns="0" tIns="0" rIns="0" bIns="0" rtlCol="0" anchor="t"/>
          <a:lstStyle/>
          <a:p>
            <a:pPr algn="r" indent="0" marL="0">
              <a:buNone/>
            </a:pPr>
            <a:r>
              <a:rPr lang="en-US" sz="1100" dirty="0">
                <a:solidFill>
                  <a:srgbClr val="5B6472"/>
                </a:solidFill>
                <a:latin typeface="Calibri" pitchFamily="34" charset="0"/>
                <a:ea typeface="Calibri" pitchFamily="34" charset="-122"/>
                <a:cs typeface="Calibri" pitchFamily="34" charset="-120"/>
              </a:rPr>
              <a:t>08</a:t>
            </a:r>
            <a:endParaRPr lang="en-US" sz="1100" dirty="0"/>
          </a:p>
        </p:txBody>
      </p:sp>
      <p:sp>
        <p:nvSpPr>
          <p:cNvPr id="6" name="Text 4"/>
          <p:cNvSpPr txBox="1"/>
          <p:nvPr/>
        </p:nvSpPr>
        <p:spPr>
          <a:xfrm>
            <a:off x="548640" y="1737360"/>
            <a:ext cx="6400800"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Run order</a:t>
            </a:r>
            <a:endParaRPr lang="en-US" sz="1800" dirty="0"/>
          </a:p>
        </p:txBody>
      </p:sp>
      <p:sp>
        <p:nvSpPr>
          <p:cNvPr id="7" name="Text 5"/>
          <p:cNvSpPr txBox="1"/>
          <p:nvPr/>
        </p:nvSpPr>
        <p:spPr>
          <a:xfrm>
            <a:off x="548640" y="2194560"/>
            <a:ext cx="6400800" cy="38404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600" dirty="0">
                <a:solidFill>
                  <a:srgbClr val="45505F"/>
                </a:solidFill>
                <a:latin typeface="Calibri" pitchFamily="34" charset="0"/>
                <a:ea typeface="Calibri" pitchFamily="34" charset="-122"/>
                <a:cs typeface="Calibri" pitchFamily="34" charset="-120"/>
              </a:rPr>
              <a:t>Register a sender and submit KYC</a:t>
            </a:r>
            <a:endParaRPr lang="en-US" sz="1600" dirty="0"/>
          </a:p>
          <a:p>
            <a:pPr marL="342900" indent="-342900">
              <a:spcAft>
                <a:spcPts val="600"/>
              </a:spcAft>
              <a:buSzPct val="100000"/>
              <a:buFont typeface="+mj-lt"/>
              <a:buAutoNum type="arabicPeriod" startAt="1"/>
            </a:pPr>
            <a:r>
              <a:rPr lang="en-US" sz="1600" dirty="0">
                <a:solidFill>
                  <a:srgbClr val="45505F"/>
                </a:solidFill>
                <a:latin typeface="Calibri" pitchFamily="34" charset="0"/>
                <a:ea typeface="Calibri" pitchFamily="34" charset="-122"/>
                <a:cs typeface="Calibri" pitchFamily="34" charset="-120"/>
              </a:rPr>
              <a:t>Admin approves KYC; a dialog names the applicant</a:t>
            </a:r>
            <a:endParaRPr lang="en-US" sz="1600" dirty="0"/>
          </a:p>
          <a:p>
            <a:pPr marL="342900" indent="-342900">
              <a:spcAft>
                <a:spcPts val="600"/>
              </a:spcAft>
              <a:buSzPct val="100000"/>
              <a:buFont typeface="+mj-lt"/>
              <a:buAutoNum type="arabicPeriod" startAt="1"/>
            </a:pPr>
            <a:r>
              <a:rPr lang="en-US" sz="1600" dirty="0">
                <a:solidFill>
                  <a:srgbClr val="45505F"/>
                </a:solidFill>
                <a:latin typeface="Calibri" pitchFamily="34" charset="0"/>
                <a:ea typeface="Calibri" pitchFamily="34" charset="-122"/>
                <a:cs typeface="Calibri" pitchFamily="34" charset="-120"/>
              </a:rPr>
              <a:t>Add a beneficiary, which shows as Linked</a:t>
            </a:r>
            <a:endParaRPr lang="en-US" sz="1600" dirty="0"/>
          </a:p>
          <a:p>
            <a:pPr marL="342900" indent="-342900">
              <a:spcAft>
                <a:spcPts val="600"/>
              </a:spcAft>
              <a:buSzPct val="100000"/>
              <a:buFont typeface="+mj-lt"/>
              <a:buAutoNum type="arabicPeriod" startAt="1"/>
            </a:pPr>
            <a:r>
              <a:rPr lang="en-US" sz="1600" dirty="0">
                <a:solidFill>
                  <a:srgbClr val="45505F"/>
                </a:solidFill>
                <a:latin typeface="Calibri" pitchFamily="34" charset="0"/>
                <a:ea typeface="Calibri" pitchFamily="34" charset="-122"/>
                <a:cs typeface="Calibri" pitchFamily="34" charset="-120"/>
              </a:rPr>
              <a:t>Quote R1,370: locked fee breakdown and MG reference</a:t>
            </a:r>
            <a:endParaRPr lang="en-US" sz="1600" dirty="0"/>
          </a:p>
          <a:p>
            <a:pPr marL="342900" indent="-342900">
              <a:spcAft>
                <a:spcPts val="600"/>
              </a:spcAft>
              <a:buSzPct val="100000"/>
              <a:buFont typeface="+mj-lt"/>
              <a:buAutoNum type="arabicPeriod" startAt="1"/>
            </a:pPr>
            <a:r>
              <a:rPr lang="en-US" sz="1600" dirty="0">
                <a:solidFill>
                  <a:srgbClr val="45505F"/>
                </a:solidFill>
                <a:latin typeface="Calibri" pitchFamily="34" charset="0"/>
                <a:ea typeface="Calibri" pitchFamily="34" charset="-122"/>
                <a:cs typeface="Calibri" pitchFamily="34" charset="-120"/>
              </a:rPr>
              <a:t>Cash-in, then admin confirms it</a:t>
            </a:r>
            <a:endParaRPr lang="en-US" sz="1600" dirty="0"/>
          </a:p>
          <a:p>
            <a:pPr marL="342900" indent="-342900">
              <a:spcAft>
                <a:spcPts val="600"/>
              </a:spcAft>
              <a:buSzPct val="100000"/>
              <a:buFont typeface="+mj-lt"/>
              <a:buAutoNum type="arabicPeriod" startAt="1"/>
            </a:pPr>
            <a:r>
              <a:rPr lang="en-US" sz="1600" dirty="0">
                <a:solidFill>
                  <a:srgbClr val="45505F"/>
                </a:solidFill>
                <a:latin typeface="Calibri" pitchFamily="34" charset="0"/>
                <a:ea typeface="Calibri" pitchFamily="34" charset="-122"/>
                <a:cs typeface="Calibri" pitchFamily="34" charset="-120"/>
              </a:rPr>
              <a:t>Run settlement; open the hash on the Testnet explorer</a:t>
            </a:r>
            <a:endParaRPr lang="en-US" sz="1600" dirty="0"/>
          </a:p>
          <a:p>
            <a:pPr marL="342900" indent="-342900">
              <a:spcAft>
                <a:spcPts val="600"/>
              </a:spcAft>
              <a:buSzPct val="100000"/>
              <a:buFont typeface="+mj-lt"/>
              <a:buAutoNum type="arabicPeriod" startAt="1"/>
            </a:pPr>
            <a:r>
              <a:rPr lang="en-US" sz="1600" dirty="0">
                <a:solidFill>
                  <a:srgbClr val="45505F"/>
                </a:solidFill>
                <a:latin typeface="Calibri" pitchFamily="34" charset="0"/>
                <a:ea typeface="Calibri" pitchFamily="34" charset="-122"/>
                <a:cs typeface="Calibri" pitchFamily="34" charset="-120"/>
              </a:rPr>
              <a:t>Retry the completed settlement: 409, no double credit</a:t>
            </a:r>
            <a:endParaRPr lang="en-US" sz="1600" dirty="0"/>
          </a:p>
          <a:p>
            <a:pPr marL="342900" indent="-342900">
              <a:spcAft>
                <a:spcPts val="600"/>
              </a:spcAft>
              <a:buSzPct val="100000"/>
              <a:buFont typeface="+mj-lt"/>
              <a:buAutoNum type="arabicPeriod" startAt="1"/>
            </a:pPr>
            <a:r>
              <a:rPr lang="en-US" sz="1600" dirty="0">
                <a:solidFill>
                  <a:srgbClr val="45505F"/>
                </a:solidFill>
                <a:latin typeface="Calibri" pitchFamily="34" charset="0"/>
                <a:ea typeface="Calibri" pitchFamily="34" charset="-122"/>
                <a:cs typeface="Calibri" pitchFamily="34" charset="-120"/>
              </a:rPr>
              <a:t>Recipient wallet, then cash-out</a:t>
            </a:r>
            <a:endParaRPr lang="en-US" sz="1600" dirty="0"/>
          </a:p>
        </p:txBody>
      </p:sp>
      <p:sp>
        <p:nvSpPr>
          <p:cNvPr id="8" name="Text 6"/>
          <p:cNvSpPr txBox="1"/>
          <p:nvPr/>
        </p:nvSpPr>
        <p:spPr>
          <a:xfrm>
            <a:off x="7315200" y="1737360"/>
            <a:ext cx="4327855"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Edge cases worth showing</a:t>
            </a:r>
            <a:endParaRPr lang="en-US" sz="1800" dirty="0"/>
          </a:p>
        </p:txBody>
      </p:sp>
      <p:sp>
        <p:nvSpPr>
          <p:cNvPr id="9" name="Shape 7"/>
          <p:cNvSpPr/>
          <p:nvPr/>
        </p:nvSpPr>
        <p:spPr>
          <a:xfrm>
            <a:off x="7315200" y="2240280"/>
            <a:ext cx="4327855" cy="1051560"/>
          </a:xfrm>
          <a:prstGeom prst="roundRect">
            <a:avLst>
              <a:gd name="adj" fmla="val 10435"/>
            </a:avLst>
          </a:prstGeom>
          <a:solidFill>
            <a:srgbClr val="F3F5F7"/>
          </a:solidFill>
          <a:ln w="12700">
            <a:solidFill>
              <a:srgbClr val="DDE2E7"/>
            </a:solidFill>
            <a:prstDash val="solid"/>
          </a:ln>
        </p:spPr>
        <p:txBody>
          <a:bodyPr/>
          <a:p/>
        </p:txBody>
      </p:sp>
      <p:sp>
        <p:nvSpPr>
          <p:cNvPr id="10" name="Text 8"/>
          <p:cNvSpPr txBox="1"/>
          <p:nvPr/>
        </p:nvSpPr>
        <p:spPr>
          <a:xfrm>
            <a:off x="7589520" y="2240280"/>
            <a:ext cx="3779215" cy="105156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An expired quote hides cash-in</a:t>
            </a:r>
            <a:endParaRPr lang="en-US" sz="1500" dirty="0"/>
          </a:p>
        </p:txBody>
      </p:sp>
      <p:sp>
        <p:nvSpPr>
          <p:cNvPr id="11" name="Shape 9"/>
          <p:cNvSpPr/>
          <p:nvPr/>
        </p:nvSpPr>
        <p:spPr>
          <a:xfrm>
            <a:off x="7315200" y="3474720"/>
            <a:ext cx="4327855" cy="1051560"/>
          </a:xfrm>
          <a:prstGeom prst="roundRect">
            <a:avLst>
              <a:gd name="adj" fmla="val 10435"/>
            </a:avLst>
          </a:prstGeom>
          <a:solidFill>
            <a:srgbClr val="F3F5F7"/>
          </a:solidFill>
          <a:ln w="12700">
            <a:solidFill>
              <a:srgbClr val="DDE2E7"/>
            </a:solidFill>
            <a:prstDash val="solid"/>
          </a:ln>
        </p:spPr>
        <p:txBody>
          <a:bodyPr/>
          <a:p/>
        </p:txBody>
      </p:sp>
      <p:sp>
        <p:nvSpPr>
          <p:cNvPr id="12" name="Text 10"/>
          <p:cNvSpPr txBox="1"/>
          <p:nvPr/>
        </p:nvSpPr>
        <p:spPr>
          <a:xfrm>
            <a:off x="7589520" y="3474720"/>
            <a:ext cx="3779215" cy="105156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An unverified sender sees KYC pending, not a send form</a:t>
            </a:r>
            <a:endParaRPr lang="en-US" sz="1500" dirty="0"/>
          </a:p>
        </p:txBody>
      </p:sp>
      <p:sp>
        <p:nvSpPr>
          <p:cNvPr id="13" name="Shape 11"/>
          <p:cNvSpPr/>
          <p:nvPr/>
        </p:nvSpPr>
        <p:spPr>
          <a:xfrm>
            <a:off x="7315200" y="4709160"/>
            <a:ext cx="4327855" cy="1051560"/>
          </a:xfrm>
          <a:prstGeom prst="roundRect">
            <a:avLst>
              <a:gd name="adj" fmla="val 10435"/>
            </a:avLst>
          </a:prstGeom>
          <a:solidFill>
            <a:srgbClr val="F3F5F7"/>
          </a:solidFill>
          <a:ln w="12700">
            <a:solidFill>
              <a:srgbClr val="DDE2E7"/>
            </a:solidFill>
            <a:prstDash val="solid"/>
          </a:ln>
        </p:spPr>
        <p:txBody>
          <a:bodyPr/>
          <a:p/>
        </p:txBody>
      </p:sp>
      <p:sp>
        <p:nvSpPr>
          <p:cNvPr id="14" name="Text 12"/>
          <p:cNvSpPr txBox="1"/>
          <p:nvPr/>
        </p:nvSpPr>
        <p:spPr>
          <a:xfrm>
            <a:off x="7589520" y="4709160"/>
            <a:ext cx="3779215" cy="1051560"/>
          </a:xfrm>
          <a:prstGeom prst="rect">
            <a:avLst/>
          </a:prstGeom>
          <a:noFill/>
          <a:ln/>
        </p:spPr>
        <p:txBody>
          <a:bodyPr wrap="square" lIns="0" tIns="0" rIns="0" bIns="0" rtlCol="0" anchor="ctr"/>
          <a:lstStyle/>
          <a:p>
            <a:pPr indent="0" marL="0">
              <a:buNone/>
            </a:pPr>
            <a:r>
              <a:rPr lang="en-US" sz="1500" dirty="0">
                <a:solidFill>
                  <a:srgbClr val="1B2433"/>
                </a:solidFill>
                <a:latin typeface="Calibri" pitchFamily="34" charset="0"/>
                <a:ea typeface="Calibri" pitchFamily="34" charset="-122"/>
                <a:cs typeface="Calibri" pitchFamily="34" charset="-120"/>
              </a:rPr>
              <a:t>A failed settlement shows the ledger's reason, such as tecPATH_DRY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t"/>
          <a:lstStyle/>
          <a:p>
            <a:pPr indent="0" marL="0">
              <a:buNone/>
            </a:pPr>
            <a:r>
              <a:rPr lang="en-US" sz="1200" b="1" spc="300" kern="0" dirty="0">
                <a:solidFill>
                  <a:srgbClr val="0E7C68"/>
                </a:solidFill>
                <a:latin typeface="Calibri" pitchFamily="34" charset="0"/>
                <a:ea typeface="Calibri" pitchFamily="34" charset="-122"/>
                <a:cs typeface="Calibri" pitchFamily="34" charset="-120"/>
              </a:rPr>
              <a:t>SECURITY</a:t>
            </a:r>
            <a:endParaRPr lang="en-US" sz="1200" dirty="0"/>
          </a:p>
        </p:txBody>
      </p:sp>
      <p:sp>
        <p:nvSpPr>
          <p:cNvPr id="3" name="Text 1"/>
          <p:cNvSpPr txBox="1"/>
          <p:nvPr/>
        </p:nvSpPr>
        <p:spPr>
          <a:xfrm>
            <a:off x="548640" y="749808"/>
            <a:ext cx="11094415" cy="685800"/>
          </a:xfrm>
          <a:prstGeom prst="rect">
            <a:avLst/>
          </a:prstGeom>
          <a:noFill/>
          <a:ln/>
        </p:spPr>
        <p:txBody>
          <a:bodyPr wrap="square" lIns="0" tIns="0" rIns="0" bIns="0" rtlCol="0" anchor="t"/>
          <a:lstStyle/>
          <a:p>
            <a:pPr indent="0" marL="0">
              <a:buNone/>
            </a:pPr>
            <a:r>
              <a:rPr lang="en-US" sz="3200" b="1" dirty="0">
                <a:solidFill>
                  <a:srgbClr val="0F1B2D"/>
                </a:solidFill>
                <a:latin typeface="Cambria" pitchFamily="34" charset="0"/>
                <a:ea typeface="Cambria" pitchFamily="34" charset="-122"/>
                <a:cs typeface="Cambria" pitchFamily="34" charset="-120"/>
              </a:rPr>
              <a:t>Secrets stay encrypted and out of responses</a:t>
            </a:r>
            <a:endParaRPr lang="en-US" sz="3200" dirty="0"/>
          </a:p>
        </p:txBody>
      </p:sp>
      <p:sp>
        <p:nvSpPr>
          <p:cNvPr id="4" name="Text 2"/>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Baobab · Group 3</a:t>
            </a:r>
            <a:endParaRPr lang="en-US" sz="1100" dirty="0"/>
          </a:p>
        </p:txBody>
      </p:sp>
      <p:sp>
        <p:nvSpPr>
          <p:cNvPr id="5" name="Text 3"/>
          <p:cNvSpPr txBox="1"/>
          <p:nvPr/>
        </p:nvSpPr>
        <p:spPr>
          <a:xfrm>
            <a:off x="10728655" y="6355080"/>
            <a:ext cx="914400" cy="274320"/>
          </a:xfrm>
          <a:prstGeom prst="rect">
            <a:avLst/>
          </a:prstGeom>
          <a:noFill/>
          <a:ln/>
        </p:spPr>
        <p:txBody>
          <a:bodyPr wrap="square" lIns="0" tIns="0" rIns="0" bIns="0" rtlCol="0" anchor="t"/>
          <a:lstStyle/>
          <a:p>
            <a:pPr algn="r" indent="0" marL="0">
              <a:buNone/>
            </a:pPr>
            <a:r>
              <a:rPr lang="en-US" sz="1100" dirty="0">
                <a:solidFill>
                  <a:srgbClr val="5B6472"/>
                </a:solidFill>
                <a:latin typeface="Calibri" pitchFamily="34" charset="0"/>
                <a:ea typeface="Calibri" pitchFamily="34" charset="-122"/>
                <a:cs typeface="Calibri" pitchFamily="34" charset="-120"/>
              </a:rPr>
              <a:t>09</a:t>
            </a:r>
            <a:endParaRPr lang="en-US" sz="1100" dirty="0"/>
          </a:p>
        </p:txBody>
      </p:sp>
      <p:sp>
        <p:nvSpPr>
          <p:cNvPr id="6" name="Shape 4"/>
          <p:cNvSpPr/>
          <p:nvPr/>
        </p:nvSpPr>
        <p:spPr>
          <a:xfrm>
            <a:off x="548640" y="1737360"/>
            <a:ext cx="5410048" cy="1828800"/>
          </a:xfrm>
          <a:prstGeom prst="roundRect">
            <a:avLst>
              <a:gd name="adj" fmla="val 6000"/>
            </a:avLst>
          </a:prstGeom>
          <a:solidFill>
            <a:srgbClr val="F3F5F7"/>
          </a:solidFill>
          <a:ln w="12700">
            <a:solidFill>
              <a:srgbClr val="DDE2E7"/>
            </a:solidFill>
            <a:prstDash val="solid"/>
          </a:ln>
        </p:spPr>
        <p:txBody>
          <a:bodyPr/>
          <a:p/>
        </p:txBody>
      </p:sp>
      <p:sp>
        <p:nvSpPr>
          <p:cNvPr id="7" name="Shape 5"/>
          <p:cNvSpPr/>
          <p:nvPr/>
        </p:nvSpPr>
        <p:spPr>
          <a:xfrm>
            <a:off x="868680" y="2011680"/>
            <a:ext cx="457200" cy="457200"/>
          </a:xfrm>
          <a:prstGeom prst="ellipse">
            <a:avLst/>
          </a:prstGeom>
          <a:solidFill>
            <a:srgbClr val="0E7C68"/>
          </a:solidFill>
          <a:ln/>
        </p:spPr>
        <p:txBody>
          <a:bodyPr/>
          <a:p/>
        </p:txBody>
      </p:sp>
      <p:sp>
        <p:nvSpPr>
          <p:cNvPr id="8" name="Text 6"/>
          <p:cNvSpPr txBox="1"/>
          <p:nvPr/>
        </p:nvSpPr>
        <p:spPr>
          <a:xfrm>
            <a:off x="868680"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1508760" y="2057400"/>
            <a:ext cx="4129888"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Passwords and sessions</a:t>
            </a:r>
            <a:endParaRPr lang="en-US" sz="1800" dirty="0"/>
          </a:p>
        </p:txBody>
      </p:sp>
      <p:sp>
        <p:nvSpPr>
          <p:cNvPr id="10" name="Text 8"/>
          <p:cNvSpPr txBox="1"/>
          <p:nvPr/>
        </p:nvSpPr>
        <p:spPr>
          <a:xfrm>
            <a:off x="868680" y="2651760"/>
            <a:ext cx="4769968" cy="960120"/>
          </a:xfrm>
          <a:prstGeom prst="rect">
            <a:avLst/>
          </a:prstGeom>
          <a:noFill/>
          <a:ln/>
        </p:spPr>
        <p:txBody>
          <a:bodyPr wrap="square" lIns="0" tIns="0" rIns="0" bIns="0" rtlCol="0" anchor="t"/>
          <a:lstStyle/>
          <a:p>
            <a:pPr indent="0" marL="0">
              <a:buNone/>
            </a:pPr>
            <a:r>
              <a:rPr lang="en-US" sz="1500" dirty="0">
                <a:solidFill>
                  <a:srgbClr val="45505F"/>
                </a:solidFill>
                <a:latin typeface="Calibri" pitchFamily="34" charset="0"/>
                <a:ea typeface="Calibri" pitchFamily="34" charset="-122"/>
                <a:cs typeface="Calibri" pitchFamily="34" charset="-120"/>
              </a:rPr>
              <a:t>Passwords are hashed with bcrypt. Session tokens are stored only as SHA-256 hashes, and logout revokes them at once.</a:t>
            </a:r>
            <a:endParaRPr lang="en-US" sz="1500" dirty="0"/>
          </a:p>
        </p:txBody>
      </p:sp>
      <p:sp>
        <p:nvSpPr>
          <p:cNvPr id="11" name="Shape 9"/>
          <p:cNvSpPr/>
          <p:nvPr/>
        </p:nvSpPr>
        <p:spPr>
          <a:xfrm>
            <a:off x="6233008" y="1737360"/>
            <a:ext cx="5410048" cy="1828800"/>
          </a:xfrm>
          <a:prstGeom prst="roundRect">
            <a:avLst>
              <a:gd name="adj" fmla="val 6000"/>
            </a:avLst>
          </a:prstGeom>
          <a:solidFill>
            <a:srgbClr val="F3F5F7"/>
          </a:solidFill>
          <a:ln w="12700">
            <a:solidFill>
              <a:srgbClr val="DDE2E7"/>
            </a:solidFill>
            <a:prstDash val="solid"/>
          </a:ln>
        </p:spPr>
        <p:txBody>
          <a:bodyPr/>
          <a:p/>
        </p:txBody>
      </p:sp>
      <p:sp>
        <p:nvSpPr>
          <p:cNvPr id="12" name="Shape 10"/>
          <p:cNvSpPr/>
          <p:nvPr/>
        </p:nvSpPr>
        <p:spPr>
          <a:xfrm>
            <a:off x="6553048" y="2011680"/>
            <a:ext cx="457200" cy="457200"/>
          </a:xfrm>
          <a:prstGeom prst="ellipse">
            <a:avLst/>
          </a:prstGeom>
          <a:solidFill>
            <a:srgbClr val="0E7C68"/>
          </a:solidFill>
          <a:ln/>
        </p:spPr>
        <p:txBody>
          <a:bodyPr/>
          <a:p/>
        </p:txBody>
      </p:sp>
      <p:sp>
        <p:nvSpPr>
          <p:cNvPr id="13" name="Text 11"/>
          <p:cNvSpPr txBox="1"/>
          <p:nvPr/>
        </p:nvSpPr>
        <p:spPr>
          <a:xfrm>
            <a:off x="6553048"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7193128" y="2057400"/>
            <a:ext cx="4129888"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Two separate Fernet keys</a:t>
            </a:r>
            <a:endParaRPr lang="en-US" sz="1800" dirty="0"/>
          </a:p>
        </p:txBody>
      </p:sp>
      <p:sp>
        <p:nvSpPr>
          <p:cNvPr id="15" name="Text 13"/>
          <p:cNvSpPr txBox="1"/>
          <p:nvPr/>
        </p:nvSpPr>
        <p:spPr>
          <a:xfrm>
            <a:off x="6553048" y="2651760"/>
            <a:ext cx="4769968" cy="960120"/>
          </a:xfrm>
          <a:prstGeom prst="rect">
            <a:avLst/>
          </a:prstGeom>
          <a:noFill/>
          <a:ln/>
        </p:spPr>
        <p:txBody>
          <a:bodyPr wrap="square" lIns="0" tIns="0" rIns="0" bIns="0" rtlCol="0" anchor="t"/>
          <a:lstStyle/>
          <a:p>
            <a:pPr indent="0" marL="0">
              <a:buNone/>
            </a:pPr>
            <a:r>
              <a:rPr lang="en-US" sz="1500" dirty="0">
                <a:solidFill>
                  <a:srgbClr val="45505F"/>
                </a:solidFill>
                <a:latin typeface="Calibri" pitchFamily="34" charset="0"/>
                <a:ea typeface="Calibri" pitchFamily="34" charset="-122"/>
                <a:cs typeface="Calibri" pitchFamily="34" charset="-120"/>
              </a:rPr>
              <a:t>One for KYC ID numbers, one for XRPL secrets. Leaking one doesn't open the other. A wrong key raises an error instead of returning blanks.</a:t>
            </a:r>
            <a:endParaRPr lang="en-US" sz="1500" dirty="0"/>
          </a:p>
        </p:txBody>
      </p:sp>
      <p:sp>
        <p:nvSpPr>
          <p:cNvPr id="16" name="Shape 14"/>
          <p:cNvSpPr/>
          <p:nvPr/>
        </p:nvSpPr>
        <p:spPr>
          <a:xfrm>
            <a:off x="548640" y="3840480"/>
            <a:ext cx="5410048" cy="1828800"/>
          </a:xfrm>
          <a:prstGeom prst="roundRect">
            <a:avLst>
              <a:gd name="adj" fmla="val 6000"/>
            </a:avLst>
          </a:prstGeom>
          <a:solidFill>
            <a:srgbClr val="F3F5F7"/>
          </a:solidFill>
          <a:ln w="12700">
            <a:solidFill>
              <a:srgbClr val="DDE2E7"/>
            </a:solidFill>
            <a:prstDash val="solid"/>
          </a:ln>
        </p:spPr>
        <p:txBody>
          <a:bodyPr/>
          <a:p/>
        </p:txBody>
      </p:sp>
      <p:sp>
        <p:nvSpPr>
          <p:cNvPr id="17" name="Shape 15"/>
          <p:cNvSpPr/>
          <p:nvPr/>
        </p:nvSpPr>
        <p:spPr>
          <a:xfrm>
            <a:off x="868680" y="4114800"/>
            <a:ext cx="457200" cy="457200"/>
          </a:xfrm>
          <a:prstGeom prst="ellipse">
            <a:avLst/>
          </a:prstGeom>
          <a:solidFill>
            <a:srgbClr val="0E7C68"/>
          </a:solidFill>
          <a:ln/>
        </p:spPr>
        <p:txBody>
          <a:bodyPr/>
          <a:p/>
        </p:txBody>
      </p:sp>
      <p:sp>
        <p:nvSpPr>
          <p:cNvPr id="18" name="Text 16"/>
          <p:cNvSpPr txBox="1"/>
          <p:nvPr/>
        </p:nvSpPr>
        <p:spPr>
          <a:xfrm>
            <a:off x="868680" y="4114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1508760" y="4160520"/>
            <a:ext cx="4129888"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No secret in any response</a:t>
            </a:r>
            <a:endParaRPr lang="en-US" sz="1800" dirty="0"/>
          </a:p>
        </p:txBody>
      </p:sp>
      <p:sp>
        <p:nvSpPr>
          <p:cNvPr id="20" name="Text 18"/>
          <p:cNvSpPr txBox="1"/>
          <p:nvPr/>
        </p:nvSpPr>
        <p:spPr>
          <a:xfrm>
            <a:off x="868680" y="4754880"/>
            <a:ext cx="4769968" cy="960120"/>
          </a:xfrm>
          <a:prstGeom prst="rect">
            <a:avLst/>
          </a:prstGeom>
          <a:noFill/>
          <a:ln/>
        </p:spPr>
        <p:txBody>
          <a:bodyPr wrap="square" lIns="0" tIns="0" rIns="0" bIns="0" rtlCol="0" anchor="t"/>
          <a:lstStyle/>
          <a:p>
            <a:pPr indent="0" marL="0">
              <a:buNone/>
            </a:pPr>
            <a:r>
              <a:rPr lang="en-US" sz="1500" dirty="0">
                <a:solidFill>
                  <a:srgbClr val="45505F"/>
                </a:solidFill>
                <a:latin typeface="Calibri" pitchFamily="34" charset="0"/>
                <a:ea typeface="Calibri" pitchFamily="34" charset="-122"/>
                <a:cs typeface="Calibri" pitchFamily="34" charset="-120"/>
              </a:rPr>
              <a:t>Wallet response models have no secret field. Keys live in environment variables, never in git, logs or the API.</a:t>
            </a:r>
            <a:endParaRPr lang="en-US" sz="1500" dirty="0"/>
          </a:p>
        </p:txBody>
      </p:sp>
      <p:sp>
        <p:nvSpPr>
          <p:cNvPr id="21" name="Shape 19"/>
          <p:cNvSpPr/>
          <p:nvPr/>
        </p:nvSpPr>
        <p:spPr>
          <a:xfrm>
            <a:off x="6233008" y="3840480"/>
            <a:ext cx="5410048" cy="1828800"/>
          </a:xfrm>
          <a:prstGeom prst="roundRect">
            <a:avLst>
              <a:gd name="adj" fmla="val 6000"/>
            </a:avLst>
          </a:prstGeom>
          <a:solidFill>
            <a:srgbClr val="F3F5F7"/>
          </a:solidFill>
          <a:ln w="12700">
            <a:solidFill>
              <a:srgbClr val="DDE2E7"/>
            </a:solidFill>
            <a:prstDash val="solid"/>
          </a:ln>
        </p:spPr>
        <p:txBody>
          <a:bodyPr/>
          <a:p/>
        </p:txBody>
      </p:sp>
      <p:sp>
        <p:nvSpPr>
          <p:cNvPr id="22" name="Shape 20"/>
          <p:cNvSpPr/>
          <p:nvPr/>
        </p:nvSpPr>
        <p:spPr>
          <a:xfrm>
            <a:off x="6553048" y="4114800"/>
            <a:ext cx="457200" cy="457200"/>
          </a:xfrm>
          <a:prstGeom prst="ellipse">
            <a:avLst/>
          </a:prstGeom>
          <a:solidFill>
            <a:srgbClr val="0E7C68"/>
          </a:solidFill>
          <a:ln/>
        </p:spPr>
        <p:txBody>
          <a:bodyPr/>
          <a:p/>
        </p:txBody>
      </p:sp>
      <p:sp>
        <p:nvSpPr>
          <p:cNvPr id="23" name="Text 21"/>
          <p:cNvSpPr txBox="1"/>
          <p:nvPr/>
        </p:nvSpPr>
        <p:spPr>
          <a:xfrm>
            <a:off x="6553048" y="4114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7193128" y="4160520"/>
            <a:ext cx="4129888"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Access control</a:t>
            </a:r>
            <a:endParaRPr lang="en-US" sz="1800" dirty="0"/>
          </a:p>
        </p:txBody>
      </p:sp>
      <p:sp>
        <p:nvSpPr>
          <p:cNvPr id="25" name="Text 23"/>
          <p:cNvSpPr txBox="1"/>
          <p:nvPr/>
        </p:nvSpPr>
        <p:spPr>
          <a:xfrm>
            <a:off x="6553048" y="4754880"/>
            <a:ext cx="4769968" cy="960120"/>
          </a:xfrm>
          <a:prstGeom prst="rect">
            <a:avLst/>
          </a:prstGeom>
          <a:noFill/>
          <a:ln/>
        </p:spPr>
        <p:txBody>
          <a:bodyPr wrap="square" lIns="0" tIns="0" rIns="0" bIns="0" rtlCol="0" anchor="t"/>
          <a:lstStyle/>
          <a:p>
            <a:pPr indent="0" marL="0">
              <a:buNone/>
            </a:pPr>
            <a:r>
              <a:rPr lang="en-US" sz="1500" dirty="0">
                <a:solidFill>
                  <a:srgbClr val="45505F"/>
                </a:solidFill>
                <a:latin typeface="Calibri" pitchFamily="34" charset="0"/>
                <a:ea typeface="Calibri" pitchFamily="34" charset="-122"/>
                <a:cs typeface="Calibri" pitchFamily="34" charset="-120"/>
              </a:rPr>
              <a:t>Customers act only on their own records. Sending and cash-out need approved KYC. Admins are created by script, never by sign-up.</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t"/>
          <a:lstStyle/>
          <a:p>
            <a:pPr indent="0" marL="0">
              <a:buNone/>
            </a:pPr>
            <a:r>
              <a:rPr lang="en-US" sz="1200" b="1" spc="300" kern="0" dirty="0">
                <a:solidFill>
                  <a:srgbClr val="0E7C68"/>
                </a:solidFill>
                <a:latin typeface="Calibri" pitchFamily="34" charset="0"/>
                <a:ea typeface="Calibri" pitchFamily="34" charset="-122"/>
                <a:cs typeface="Calibri" pitchFamily="34" charset="-120"/>
              </a:rPr>
              <a:t>REGULATORY CONSIDERATIONS</a:t>
            </a:r>
            <a:endParaRPr lang="en-US" sz="1200" dirty="0"/>
          </a:p>
        </p:txBody>
      </p:sp>
      <p:sp>
        <p:nvSpPr>
          <p:cNvPr id="3" name="Text 1"/>
          <p:cNvSpPr txBox="1"/>
          <p:nvPr/>
        </p:nvSpPr>
        <p:spPr>
          <a:xfrm>
            <a:off x="548640" y="749808"/>
            <a:ext cx="11094415" cy="685800"/>
          </a:xfrm>
          <a:prstGeom prst="rect">
            <a:avLst/>
          </a:prstGeom>
          <a:noFill/>
          <a:ln/>
        </p:spPr>
        <p:txBody>
          <a:bodyPr wrap="square" lIns="0" tIns="0" rIns="0" bIns="0" rtlCol="0" anchor="t"/>
          <a:lstStyle/>
          <a:p>
            <a:pPr indent="0" marL="0">
              <a:buNone/>
            </a:pPr>
            <a:r>
              <a:rPr lang="en-US" sz="3200" b="1" dirty="0">
                <a:solidFill>
                  <a:srgbClr val="0F1B2D"/>
                </a:solidFill>
                <a:latin typeface="Cambria" pitchFamily="34" charset="0"/>
                <a:ea typeface="Cambria" pitchFamily="34" charset="-122"/>
                <a:cs typeface="Cambria" pitchFamily="34" charset="-120"/>
              </a:rPr>
              <a:t>A stablecoin does not remove the rules</a:t>
            </a:r>
            <a:endParaRPr lang="en-US" sz="3200" dirty="0"/>
          </a:p>
        </p:txBody>
      </p:sp>
      <p:sp>
        <p:nvSpPr>
          <p:cNvPr id="4" name="Text 2"/>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Baobab · Group 3</a:t>
            </a:r>
            <a:endParaRPr lang="en-US" sz="1100" dirty="0"/>
          </a:p>
        </p:txBody>
      </p:sp>
      <p:sp>
        <p:nvSpPr>
          <p:cNvPr id="5" name="Text 3"/>
          <p:cNvSpPr txBox="1"/>
          <p:nvPr/>
        </p:nvSpPr>
        <p:spPr>
          <a:xfrm>
            <a:off x="10728655" y="6355080"/>
            <a:ext cx="914400" cy="274320"/>
          </a:xfrm>
          <a:prstGeom prst="rect">
            <a:avLst/>
          </a:prstGeom>
          <a:noFill/>
          <a:ln/>
        </p:spPr>
        <p:txBody>
          <a:bodyPr wrap="square" lIns="0" tIns="0" rIns="0" bIns="0" rtlCol="0" anchor="t"/>
          <a:lstStyle/>
          <a:p>
            <a:pPr algn="r" indent="0" marL="0">
              <a:buNone/>
            </a:pPr>
            <a:r>
              <a:rPr lang="en-US" sz="1100" dirty="0">
                <a:solidFill>
                  <a:srgbClr val="5B6472"/>
                </a:solidFill>
                <a:latin typeface="Calibri" pitchFamily="34" charset="0"/>
                <a:ea typeface="Calibri" pitchFamily="34" charset="-122"/>
                <a:cs typeface="Calibri" pitchFamily="34" charset="-120"/>
              </a:rPr>
              <a:t>10</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651760"/>
                <a:gridCol w="4221785"/>
                <a:gridCol w="4220870"/>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Area</a:t>
                      </a:r>
                      <a:endParaRPr lang="en-US" sz="1500" dirty="0">
                        <a:latin typeface="Calibri" charset="0"/>
                        <a:ea typeface="Calibri" charset="0"/>
                        <a:cs typeface="Calibri" charset="0"/>
                      </a:endParaRPr>
                    </a:p>
                  </a:txBody>
                  <a:tcPr marL="152400" marR="1524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0F1B2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 real operator needs</a:t>
                      </a:r>
                      <a:endParaRPr lang="en-US" sz="1500" dirty="0">
                        <a:latin typeface="Calibri" charset="0"/>
                        <a:ea typeface="Calibri" charset="0"/>
                        <a:cs typeface="Calibri" charset="0"/>
                      </a:endParaRPr>
                    </a:p>
                  </a:txBody>
                  <a:tcPr marL="152400" marR="1524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0F1B2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What we built</a:t>
                      </a:r>
                      <a:endParaRPr lang="en-US" sz="1500" dirty="0">
                        <a:latin typeface="Calibri" charset="0"/>
                        <a:ea typeface="Calibri" charset="0"/>
                        <a:cs typeface="Calibri" charset="0"/>
                      </a:endParaRPr>
                    </a:p>
                  </a:txBody>
                  <a:tcPr marL="152400" marR="1524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0F1B2D"/>
                    </a:solidFill>
                  </a:tcPr>
                </a:tc>
              </a:tr>
              <a:tr h="548640">
                <a:tc>
                  <a:txBody>
                    <a:bodyPr/>
                    <a:lstStyle/>
                    <a:p>
                      <a:pPr indent="0" marL="0">
                        <a:buNone/>
                      </a:pPr>
                      <a:r>
                        <a:rPr lang="en-US" sz="1500" b="1" dirty="0">
                          <a:solidFill>
                            <a:srgbClr val="1B2433"/>
                          </a:solidFill>
                          <a:latin typeface="Calibri" pitchFamily="34" charset="0"/>
                          <a:ea typeface="Calibri" pitchFamily="34" charset="-122"/>
                          <a:cs typeface="Calibri" pitchFamily="34" charset="-120"/>
                        </a:rPr>
                        <a:t>KYC and AML (FICA)</a:t>
                      </a:r>
                      <a:endParaRPr lang="en-US" sz="1500" dirty="0">
                        <a:latin typeface="Calibri" charset="0"/>
                        <a:ea typeface="Calibri" charset="0"/>
                        <a:cs typeface="Calibri" charset="0"/>
                      </a:endParaRPr>
                    </a:p>
                  </a:txBody>
                  <a:tcPr marL="152400" marR="1524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FFFFFF"/>
                    </a:solidFill>
                  </a:tcPr>
                </a:tc>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Due diligence, sanctions screening, STRs</a:t>
                      </a:r>
                      <a:endParaRPr lang="en-US" sz="1500" dirty="0">
                        <a:latin typeface="Calibri" charset="0"/>
                        <a:ea typeface="Calibri" charset="0"/>
                        <a:cs typeface="Calibri" charset="0"/>
                      </a:endParaRPr>
                    </a:p>
                  </a:txBody>
                  <a:tcPr marL="152400" marR="1524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FFFFFF"/>
                    </a:solidFill>
                  </a:tcPr>
                </a:tc>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Mock KYC, admin approval, encrypted ID</a:t>
                      </a:r>
                      <a:endParaRPr lang="en-US" sz="1500" dirty="0">
                        <a:latin typeface="Calibri" charset="0"/>
                        <a:ea typeface="Calibri" charset="0"/>
                        <a:cs typeface="Calibri" charset="0"/>
                      </a:endParaRPr>
                    </a:p>
                  </a:txBody>
                  <a:tcPr marL="152400" marR="1524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1B2433"/>
                          </a:solidFill>
                          <a:latin typeface="Calibri" pitchFamily="34" charset="0"/>
                          <a:ea typeface="Calibri" pitchFamily="34" charset="-122"/>
                          <a:cs typeface="Calibri" pitchFamily="34" charset="-120"/>
                        </a:rPr>
                        <a:t>Monitoring</a:t>
                      </a:r>
                      <a:endParaRPr lang="en-US" sz="1500" dirty="0">
                        <a:latin typeface="Calibri" charset="0"/>
                        <a:ea typeface="Calibri" charset="0"/>
                        <a:cs typeface="Calibri" charset="0"/>
                      </a:endParaRPr>
                    </a:p>
                  </a:txBody>
                  <a:tcPr marL="152400" marR="1524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F3F5F7"/>
                    </a:solidFill>
                  </a:tcPr>
                </a:tc>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Velocity and structuring alerts</a:t>
                      </a:r>
                      <a:endParaRPr lang="en-US" sz="1500" dirty="0">
                        <a:latin typeface="Calibri" charset="0"/>
                        <a:ea typeface="Calibri" charset="0"/>
                        <a:cs typeface="Calibri" charset="0"/>
                      </a:endParaRPr>
                    </a:p>
                  </a:txBody>
                  <a:tcPr marL="152400" marR="1524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F3F5F7"/>
                    </a:solidFill>
                  </a:tcPr>
                </a:tc>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Daily and monthly caps, full audit trail</a:t>
                      </a:r>
                      <a:endParaRPr lang="en-US" sz="1500" dirty="0">
                        <a:latin typeface="Calibri" charset="0"/>
                        <a:ea typeface="Calibri" charset="0"/>
                        <a:cs typeface="Calibri" charset="0"/>
                      </a:endParaRPr>
                    </a:p>
                  </a:txBody>
                  <a:tcPr marL="152400" marR="1524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F3F5F7"/>
                    </a:solidFill>
                  </a:tcPr>
                </a:tc>
              </a:tr>
              <a:tr h="548640">
                <a:tc>
                  <a:txBody>
                    <a:bodyPr/>
                    <a:lstStyle/>
                    <a:p>
                      <a:pPr indent="0" marL="0">
                        <a:buNone/>
                      </a:pPr>
                      <a:r>
                        <a:rPr lang="en-US" sz="1500" b="1" dirty="0">
                          <a:solidFill>
                            <a:srgbClr val="1B2433"/>
                          </a:solidFill>
                          <a:latin typeface="Calibri" pitchFamily="34" charset="0"/>
                          <a:ea typeface="Calibri" pitchFamily="34" charset="-122"/>
                          <a:cs typeface="Calibri" pitchFamily="34" charset="-120"/>
                        </a:rPr>
                        <a:t>Crypto custody</a:t>
                      </a:r>
                      <a:endParaRPr lang="en-US" sz="1500" dirty="0">
                        <a:latin typeface="Calibri" charset="0"/>
                        <a:ea typeface="Calibri" charset="0"/>
                        <a:cs typeface="Calibri" charset="0"/>
                      </a:endParaRPr>
                    </a:p>
                  </a:txBody>
                  <a:tcPr marL="152400" marR="1524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FFFFFF"/>
                    </a:solidFill>
                  </a:tcPr>
                </a:tc>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FSCA crypto-asset authorisation</a:t>
                      </a:r>
                      <a:endParaRPr lang="en-US" sz="1500" dirty="0">
                        <a:latin typeface="Calibri" charset="0"/>
                        <a:ea typeface="Calibri" charset="0"/>
                        <a:cs typeface="Calibri" charset="0"/>
                      </a:endParaRPr>
                    </a:p>
                  </a:txBody>
                  <a:tcPr marL="152400" marR="1524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FFFFFF"/>
                    </a:solidFill>
                  </a:tcPr>
                </a:tc>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Custodial Testnet keys, encrypted</a:t>
                      </a:r>
                      <a:endParaRPr lang="en-US" sz="1500" dirty="0">
                        <a:latin typeface="Calibri" charset="0"/>
                        <a:ea typeface="Calibri" charset="0"/>
                        <a:cs typeface="Calibri" charset="0"/>
                      </a:endParaRPr>
                    </a:p>
                  </a:txBody>
                  <a:tcPr marL="152400" marR="1524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FFFFFF"/>
                    </a:solidFill>
                  </a:tcPr>
                </a:tc>
              </a:tr>
              <a:tr h="548640">
                <a:tc>
                  <a:txBody>
                    <a:bodyPr/>
                    <a:lstStyle/>
                    <a:p>
                      <a:pPr indent="0" marL="0">
                        <a:buNone/>
                      </a:pPr>
                      <a:r>
                        <a:rPr lang="en-US" sz="1500" b="1" dirty="0">
                          <a:solidFill>
                            <a:srgbClr val="1B2433"/>
                          </a:solidFill>
                          <a:latin typeface="Calibri" pitchFamily="34" charset="0"/>
                          <a:ea typeface="Calibri" pitchFamily="34" charset="-122"/>
                          <a:cs typeface="Calibri" pitchFamily="34" charset="-120"/>
                        </a:rPr>
                        <a:t>Exchange control</a:t>
                      </a:r>
                      <a:endParaRPr lang="en-US" sz="1500" dirty="0">
                        <a:latin typeface="Calibri" charset="0"/>
                        <a:ea typeface="Calibri" charset="0"/>
                        <a:cs typeface="Calibri" charset="0"/>
                      </a:endParaRPr>
                    </a:p>
                  </a:txBody>
                  <a:tcPr marL="152400" marR="1524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F3F5F7"/>
                    </a:solidFill>
                  </a:tcPr>
                </a:tc>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SARB authorised-dealer channel</a:t>
                      </a:r>
                      <a:endParaRPr lang="en-US" sz="1500" dirty="0">
                        <a:latin typeface="Calibri" charset="0"/>
                        <a:ea typeface="Calibri" charset="0"/>
                        <a:cs typeface="Calibri" charset="0"/>
                      </a:endParaRPr>
                    </a:p>
                  </a:txBody>
                  <a:tcPr marL="152400" marR="1524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F3F5F7"/>
                    </a:solidFill>
                  </a:tcPr>
                </a:tc>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Fiat legs simulated; no rand crosses</a:t>
                      </a:r>
                      <a:endParaRPr lang="en-US" sz="1500" dirty="0">
                        <a:latin typeface="Calibri" charset="0"/>
                        <a:ea typeface="Calibri" charset="0"/>
                        <a:cs typeface="Calibri" charset="0"/>
                      </a:endParaRPr>
                    </a:p>
                  </a:txBody>
                  <a:tcPr marL="152400" marR="1524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F3F5F7"/>
                    </a:solidFill>
                  </a:tcPr>
                </a:tc>
              </a:tr>
              <a:tr h="548640">
                <a:tc>
                  <a:txBody>
                    <a:bodyPr/>
                    <a:lstStyle/>
                    <a:p>
                      <a:pPr indent="0" marL="0">
                        <a:buNone/>
                      </a:pPr>
                      <a:r>
                        <a:rPr lang="en-US" sz="1500" b="1" dirty="0">
                          <a:solidFill>
                            <a:srgbClr val="1B2433"/>
                          </a:solidFill>
                          <a:latin typeface="Calibri" pitchFamily="34" charset="0"/>
                          <a:ea typeface="Calibri" pitchFamily="34" charset="-122"/>
                          <a:cs typeface="Calibri" pitchFamily="34" charset="-120"/>
                        </a:rPr>
                        <a:t>Licensing</a:t>
                      </a:r>
                      <a:endParaRPr lang="en-US" sz="1500" dirty="0">
                        <a:latin typeface="Calibri" charset="0"/>
                        <a:ea typeface="Calibri" charset="0"/>
                        <a:cs typeface="Calibri" charset="0"/>
                      </a:endParaRPr>
                    </a:p>
                  </a:txBody>
                  <a:tcPr marL="152400" marR="1524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FFFFFF"/>
                    </a:solidFill>
                  </a:tcPr>
                </a:tc>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FICA, SARB and FSCA as applicable</a:t>
                      </a:r>
                      <a:endParaRPr lang="en-US" sz="1500" dirty="0">
                        <a:latin typeface="Calibri" charset="0"/>
                        <a:ea typeface="Calibri" charset="0"/>
                        <a:cs typeface="Calibri" charset="0"/>
                      </a:endParaRPr>
                    </a:p>
                  </a:txBody>
                  <a:tcPr marL="152400" marR="1524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FFFFFF"/>
                    </a:solidFill>
                  </a:tcPr>
                </a:tc>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Unlicensed; Testnet only, no real funds</a:t>
                      </a:r>
                      <a:endParaRPr lang="en-US" sz="1500" dirty="0">
                        <a:latin typeface="Calibri" charset="0"/>
                        <a:ea typeface="Calibri" charset="0"/>
                        <a:cs typeface="Calibri" charset="0"/>
                      </a:endParaRPr>
                    </a:p>
                  </a:txBody>
                  <a:tcPr marL="152400" marR="152400" marT="50800" marB="50800" anchor="ctr">
                    <a:lnL w="9525" cap="flat" cmpd="sng" algn="ctr">
                      <a:solidFill>
                        <a:srgbClr val="DDE2E7"/>
                      </a:solidFill>
                      <a:prstDash val="solid"/>
                      <a:round/>
                      <a:headEnd type="none" w="med" len="med"/>
                      <a:tailEnd type="none" w="med" len="med"/>
                    </a:lnL>
                    <a:lnR w="9525" cap="flat" cmpd="sng" algn="ctr">
                      <a:solidFill>
                        <a:srgbClr val="DDE2E7"/>
                      </a:solidFill>
                      <a:prstDash val="solid"/>
                      <a:round/>
                      <a:headEnd type="none" w="med" len="med"/>
                      <a:tailEnd type="none" w="med" len="med"/>
                    </a:lnR>
                    <a:lnT w="9525" cap="flat" cmpd="sng" algn="ctr">
                      <a:solidFill>
                        <a:srgbClr val="DDE2E7"/>
                      </a:solidFill>
                      <a:prstDash val="solid"/>
                      <a:round/>
                      <a:headEnd type="none" w="med" len="med"/>
                      <a:tailEnd type="none" w="med" len="med"/>
                    </a:lnT>
                    <a:lnB w="9525" cap="flat" cmpd="sng" algn="ctr">
                      <a:solidFill>
                        <a:srgbClr val="DDE2E7"/>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5349240"/>
            <a:ext cx="11094415" cy="640080"/>
          </a:xfrm>
          <a:prstGeom prst="rect">
            <a:avLst/>
          </a:prstGeom>
          <a:noFill/>
          <a:ln/>
        </p:spPr>
        <p:txBody>
          <a:bodyPr wrap="square" lIns="0" tIns="0" rIns="0" bIns="0" rtlCol="0" anchor="t"/>
          <a:lstStyle/>
          <a:p>
            <a:pPr indent="0" marL="0">
              <a:buNone/>
            </a:pPr>
            <a:r>
              <a:rPr lang="en-US" sz="1500" dirty="0">
                <a:solidFill>
                  <a:srgbClr val="45505F"/>
                </a:solidFill>
                <a:latin typeface="Calibri" pitchFamily="34" charset="0"/>
                <a:ea typeface="Calibri" pitchFamily="34" charset="-122"/>
                <a:cs typeface="Calibri" pitchFamily="34" charset="-120"/>
              </a:rPr>
              <a:t>This is our reading of the problem, not a legal opinion. The quote locks the fee breakdown for 15 minutes, so the fee charged matches the fee shown.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t"/>
          <a:lstStyle/>
          <a:p>
            <a:pPr indent="0" marL="0">
              <a:buNone/>
            </a:pPr>
            <a:r>
              <a:rPr lang="en-US" sz="1200" b="1" spc="300" kern="0" dirty="0">
                <a:solidFill>
                  <a:srgbClr val="0E7C68"/>
                </a:solidFill>
                <a:latin typeface="Calibri" pitchFamily="34" charset="0"/>
                <a:ea typeface="Calibri" pitchFamily="34" charset="-122"/>
                <a:cs typeface="Calibri" pitchFamily="34" charset="-120"/>
              </a:rPr>
              <a:t>TESTING RESULTS</a:t>
            </a:r>
            <a:endParaRPr lang="en-US" sz="1200" dirty="0"/>
          </a:p>
        </p:txBody>
      </p:sp>
      <p:sp>
        <p:nvSpPr>
          <p:cNvPr id="3" name="Text 1"/>
          <p:cNvSpPr txBox="1"/>
          <p:nvPr/>
        </p:nvSpPr>
        <p:spPr>
          <a:xfrm>
            <a:off x="548640" y="749808"/>
            <a:ext cx="11094415" cy="685800"/>
          </a:xfrm>
          <a:prstGeom prst="rect">
            <a:avLst/>
          </a:prstGeom>
          <a:noFill/>
          <a:ln/>
        </p:spPr>
        <p:txBody>
          <a:bodyPr wrap="square" lIns="0" tIns="0" rIns="0" bIns="0" rtlCol="0" anchor="t"/>
          <a:lstStyle/>
          <a:p>
            <a:pPr indent="0" marL="0">
              <a:buNone/>
            </a:pPr>
            <a:r>
              <a:rPr lang="en-US" sz="3200" b="1" dirty="0">
                <a:solidFill>
                  <a:srgbClr val="0F1B2D"/>
                </a:solidFill>
                <a:latin typeface="Cambria" pitchFamily="34" charset="0"/>
                <a:ea typeface="Cambria" pitchFamily="34" charset="-122"/>
                <a:cs typeface="Cambria" pitchFamily="34" charset="-120"/>
              </a:rPr>
              <a:t>Stable under load; the ledger sets the pace</a:t>
            </a:r>
            <a:endParaRPr lang="en-US" sz="3200" dirty="0"/>
          </a:p>
        </p:txBody>
      </p:sp>
      <p:sp>
        <p:nvSpPr>
          <p:cNvPr id="4" name="Text 2"/>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Locust load test, 60 s, 7 Sep 2026 · Testnet settlement benchmark, 24 Sep 2026</a:t>
            </a:r>
            <a:endParaRPr lang="en-US" sz="1100" dirty="0"/>
          </a:p>
        </p:txBody>
      </p:sp>
      <p:sp>
        <p:nvSpPr>
          <p:cNvPr id="5" name="Text 3"/>
          <p:cNvSpPr txBox="1"/>
          <p:nvPr/>
        </p:nvSpPr>
        <p:spPr>
          <a:xfrm>
            <a:off x="10728655" y="6355080"/>
            <a:ext cx="914400" cy="274320"/>
          </a:xfrm>
          <a:prstGeom prst="rect">
            <a:avLst/>
          </a:prstGeom>
          <a:noFill/>
          <a:ln/>
        </p:spPr>
        <p:txBody>
          <a:bodyPr wrap="square" lIns="0" tIns="0" rIns="0" bIns="0" rtlCol="0" anchor="t"/>
          <a:lstStyle/>
          <a:p>
            <a:pPr algn="r" indent="0" marL="0">
              <a:buNone/>
            </a:pPr>
            <a:r>
              <a:rPr lang="en-US" sz="1100" dirty="0">
                <a:solidFill>
                  <a:srgbClr val="5B6472"/>
                </a:solidFill>
                <a:latin typeface="Calibri" pitchFamily="34" charset="0"/>
                <a:ea typeface="Calibri" pitchFamily="34" charset="-122"/>
                <a:cs typeface="Calibri" pitchFamily="34" charset="-120"/>
              </a:rPr>
              <a:t>11</a:t>
            </a:r>
            <a:endParaRPr lang="en-US" sz="1100" dirty="0"/>
          </a:p>
        </p:txBody>
      </p:sp>
      <p:sp>
        <p:nvSpPr>
          <p:cNvPr id="6" name="Shape 4"/>
          <p:cNvSpPr/>
          <p:nvPr/>
        </p:nvSpPr>
        <p:spPr>
          <a:xfrm>
            <a:off x="548640" y="1737360"/>
            <a:ext cx="2567864" cy="1920240"/>
          </a:xfrm>
          <a:prstGeom prst="roundRect">
            <a:avLst>
              <a:gd name="adj" fmla="val 5714"/>
            </a:avLst>
          </a:prstGeom>
          <a:solidFill>
            <a:srgbClr val="F3F5F7"/>
          </a:solidFill>
          <a:ln w="12700">
            <a:solidFill>
              <a:srgbClr val="DDE2E7"/>
            </a:solidFill>
            <a:prstDash val="solid"/>
          </a:ln>
        </p:spPr>
        <p:txBody>
          <a:bodyPr/>
          <a:p/>
        </p:txBody>
      </p:sp>
      <p:sp>
        <p:nvSpPr>
          <p:cNvPr id="7" name="Text 5"/>
          <p:cNvSpPr txBox="1"/>
          <p:nvPr/>
        </p:nvSpPr>
        <p:spPr>
          <a:xfrm>
            <a:off x="822960" y="1920240"/>
            <a:ext cx="2019224" cy="777240"/>
          </a:xfrm>
          <a:prstGeom prst="rect">
            <a:avLst/>
          </a:prstGeom>
          <a:noFill/>
          <a:ln/>
        </p:spPr>
        <p:txBody>
          <a:bodyPr wrap="square" lIns="0" tIns="0" rIns="0" bIns="0" rtlCol="0" anchor="t"/>
          <a:lstStyle/>
          <a:p>
            <a:pPr indent="0" marL="0">
              <a:buNone/>
            </a:pPr>
            <a:r>
              <a:rPr lang="en-US" sz="4400" b="1" dirty="0">
                <a:solidFill>
                  <a:srgbClr val="0E7C68"/>
                </a:solidFill>
                <a:latin typeface="Cambria" pitchFamily="34" charset="0"/>
                <a:ea typeface="Cambria" pitchFamily="34" charset="-122"/>
                <a:cs typeface="Cambria" pitchFamily="34" charset="-120"/>
              </a:rPr>
              <a:t>0</a:t>
            </a:r>
            <a:endParaRPr lang="en-US" sz="4400" dirty="0"/>
          </a:p>
        </p:txBody>
      </p:sp>
      <p:sp>
        <p:nvSpPr>
          <p:cNvPr id="8" name="Text 6"/>
          <p:cNvSpPr txBox="1"/>
          <p:nvPr/>
        </p:nvSpPr>
        <p:spPr>
          <a:xfrm>
            <a:off x="822960" y="2743200"/>
            <a:ext cx="2019224" cy="822960"/>
          </a:xfrm>
          <a:prstGeom prst="rect">
            <a:avLst/>
          </a:prstGeom>
          <a:noFill/>
          <a:ln/>
        </p:spPr>
        <p:txBody>
          <a:bodyPr wrap="square" lIns="0" tIns="0" rIns="0" bIns="0" rtlCol="0" anchor="t"/>
          <a:lstStyle/>
          <a:p>
            <a:pPr indent="0" marL="0">
              <a:buNone/>
            </a:pPr>
            <a:r>
              <a:rPr lang="en-US" sz="1300" dirty="0">
                <a:solidFill>
                  <a:srgbClr val="45505F"/>
                </a:solidFill>
                <a:latin typeface="Calibri" pitchFamily="34" charset="0"/>
                <a:ea typeface="Calibri" pitchFamily="34" charset="-122"/>
                <a:cs typeface="Calibri" pitchFamily="34" charset="-120"/>
              </a:rPr>
              <a:t>failures in 2,218 requests from 50 concurrent users (37 req/s)</a:t>
            </a:r>
            <a:endParaRPr lang="en-US" sz="1300" dirty="0"/>
          </a:p>
        </p:txBody>
      </p:sp>
      <p:sp>
        <p:nvSpPr>
          <p:cNvPr id="9" name="Shape 7"/>
          <p:cNvSpPr/>
          <p:nvPr/>
        </p:nvSpPr>
        <p:spPr>
          <a:xfrm>
            <a:off x="3390824" y="1737360"/>
            <a:ext cx="2567864" cy="1920240"/>
          </a:xfrm>
          <a:prstGeom prst="roundRect">
            <a:avLst>
              <a:gd name="adj" fmla="val 5714"/>
            </a:avLst>
          </a:prstGeom>
          <a:solidFill>
            <a:srgbClr val="F3F5F7"/>
          </a:solidFill>
          <a:ln w="12700">
            <a:solidFill>
              <a:srgbClr val="DDE2E7"/>
            </a:solidFill>
            <a:prstDash val="solid"/>
          </a:ln>
        </p:spPr>
        <p:txBody>
          <a:bodyPr/>
          <a:p/>
        </p:txBody>
      </p:sp>
      <p:sp>
        <p:nvSpPr>
          <p:cNvPr id="10" name="Text 8"/>
          <p:cNvSpPr txBox="1"/>
          <p:nvPr/>
        </p:nvSpPr>
        <p:spPr>
          <a:xfrm>
            <a:off x="3665144" y="1920240"/>
            <a:ext cx="2019224" cy="777240"/>
          </a:xfrm>
          <a:prstGeom prst="rect">
            <a:avLst/>
          </a:prstGeom>
          <a:noFill/>
          <a:ln/>
        </p:spPr>
        <p:txBody>
          <a:bodyPr wrap="square" lIns="0" tIns="0" rIns="0" bIns="0" rtlCol="0" anchor="t"/>
          <a:lstStyle/>
          <a:p>
            <a:pPr indent="0" marL="0">
              <a:buNone/>
            </a:pPr>
            <a:r>
              <a:rPr lang="en-US" sz="4400" b="1" dirty="0">
                <a:solidFill>
                  <a:srgbClr val="0E7C68"/>
                </a:solidFill>
                <a:latin typeface="Cambria" pitchFamily="34" charset="0"/>
                <a:ea typeface="Cambria" pitchFamily="34" charset="-122"/>
                <a:cs typeface="Cambria" pitchFamily="34" charset="-120"/>
              </a:rPr>
              <a:t>1.37 s</a:t>
            </a:r>
            <a:endParaRPr lang="en-US" sz="4400" dirty="0"/>
          </a:p>
        </p:txBody>
      </p:sp>
      <p:sp>
        <p:nvSpPr>
          <p:cNvPr id="11" name="Text 9"/>
          <p:cNvSpPr txBox="1"/>
          <p:nvPr/>
        </p:nvSpPr>
        <p:spPr>
          <a:xfrm>
            <a:off x="3665144" y="2743200"/>
            <a:ext cx="2019224" cy="822960"/>
          </a:xfrm>
          <a:prstGeom prst="rect">
            <a:avLst/>
          </a:prstGeom>
          <a:noFill/>
          <a:ln/>
        </p:spPr>
        <p:txBody>
          <a:bodyPr wrap="square" lIns="0" tIns="0" rIns="0" bIns="0" rtlCol="0" anchor="t"/>
          <a:lstStyle/>
          <a:p>
            <a:pPr indent="0" marL="0">
              <a:buNone/>
            </a:pPr>
            <a:r>
              <a:rPr lang="en-US" sz="1300" dirty="0">
                <a:solidFill>
                  <a:srgbClr val="45505F"/>
                </a:solidFill>
                <a:latin typeface="Calibri" pitchFamily="34" charset="0"/>
                <a:ea typeface="Calibri" pitchFamily="34" charset="-122"/>
                <a:cs typeface="Calibri" pitchFamily="34" charset="-120"/>
              </a:rPr>
              <a:t>slowest request; the target was under 2 s</a:t>
            </a:r>
            <a:endParaRPr lang="en-US" sz="1300" dirty="0"/>
          </a:p>
        </p:txBody>
      </p:sp>
      <p:sp>
        <p:nvSpPr>
          <p:cNvPr id="12" name="Shape 10"/>
          <p:cNvSpPr/>
          <p:nvPr/>
        </p:nvSpPr>
        <p:spPr>
          <a:xfrm>
            <a:off x="6233008" y="1737360"/>
            <a:ext cx="2567864" cy="1920240"/>
          </a:xfrm>
          <a:prstGeom prst="roundRect">
            <a:avLst>
              <a:gd name="adj" fmla="val 5714"/>
            </a:avLst>
          </a:prstGeom>
          <a:solidFill>
            <a:srgbClr val="F3F5F7"/>
          </a:solidFill>
          <a:ln w="12700">
            <a:solidFill>
              <a:srgbClr val="DDE2E7"/>
            </a:solidFill>
            <a:prstDash val="solid"/>
          </a:ln>
        </p:spPr>
        <p:txBody>
          <a:bodyPr/>
          <a:p/>
        </p:txBody>
      </p:sp>
      <p:sp>
        <p:nvSpPr>
          <p:cNvPr id="13" name="Text 11"/>
          <p:cNvSpPr txBox="1"/>
          <p:nvPr/>
        </p:nvSpPr>
        <p:spPr>
          <a:xfrm>
            <a:off x="6507328" y="1920240"/>
            <a:ext cx="2019224" cy="777240"/>
          </a:xfrm>
          <a:prstGeom prst="rect">
            <a:avLst/>
          </a:prstGeom>
          <a:noFill/>
          <a:ln/>
        </p:spPr>
        <p:txBody>
          <a:bodyPr wrap="square" lIns="0" tIns="0" rIns="0" bIns="0" rtlCol="0" anchor="t"/>
          <a:lstStyle/>
          <a:p>
            <a:pPr indent="0" marL="0">
              <a:buNone/>
            </a:pPr>
            <a:r>
              <a:rPr lang="en-US" sz="4400" b="1" dirty="0">
                <a:solidFill>
                  <a:srgbClr val="0E7C68"/>
                </a:solidFill>
                <a:latin typeface="Cambria" pitchFamily="34" charset="0"/>
                <a:ea typeface="Cambria" pitchFamily="34" charset="-122"/>
                <a:cs typeface="Cambria" pitchFamily="34" charset="-120"/>
              </a:rPr>
              <a:t>15/15</a:t>
            </a:r>
            <a:endParaRPr lang="en-US" sz="4400" dirty="0"/>
          </a:p>
        </p:txBody>
      </p:sp>
      <p:sp>
        <p:nvSpPr>
          <p:cNvPr id="14" name="Text 12"/>
          <p:cNvSpPr txBox="1"/>
          <p:nvPr/>
        </p:nvSpPr>
        <p:spPr>
          <a:xfrm>
            <a:off x="6507328" y="2743200"/>
            <a:ext cx="2019224" cy="822960"/>
          </a:xfrm>
          <a:prstGeom prst="rect">
            <a:avLst/>
          </a:prstGeom>
          <a:noFill/>
          <a:ln/>
        </p:spPr>
        <p:txBody>
          <a:bodyPr wrap="square" lIns="0" tIns="0" rIns="0" bIns="0" rtlCol="0" anchor="t"/>
          <a:lstStyle/>
          <a:p>
            <a:pPr indent="0" marL="0">
              <a:buNone/>
            </a:pPr>
            <a:r>
              <a:rPr lang="en-US" sz="1300" dirty="0">
                <a:solidFill>
                  <a:srgbClr val="45505F"/>
                </a:solidFill>
                <a:latin typeface="Calibri" pitchFamily="34" charset="0"/>
                <a:ea typeface="Calibri" pitchFamily="34" charset="-122"/>
                <a:cs typeface="Calibri" pitchFamily="34" charset="-120"/>
              </a:rPr>
              <a:t>real Testnet payments settled, 15.1 s average</a:t>
            </a:r>
            <a:endParaRPr lang="en-US" sz="1300" dirty="0"/>
          </a:p>
        </p:txBody>
      </p:sp>
      <p:sp>
        <p:nvSpPr>
          <p:cNvPr id="15" name="Shape 13"/>
          <p:cNvSpPr/>
          <p:nvPr/>
        </p:nvSpPr>
        <p:spPr>
          <a:xfrm>
            <a:off x="9075191" y="1737360"/>
            <a:ext cx="2567864" cy="1920240"/>
          </a:xfrm>
          <a:prstGeom prst="roundRect">
            <a:avLst>
              <a:gd name="adj" fmla="val 5714"/>
            </a:avLst>
          </a:prstGeom>
          <a:solidFill>
            <a:srgbClr val="F3F5F7"/>
          </a:solidFill>
          <a:ln w="12700">
            <a:solidFill>
              <a:srgbClr val="DDE2E7"/>
            </a:solidFill>
            <a:prstDash val="solid"/>
          </a:ln>
        </p:spPr>
        <p:txBody>
          <a:bodyPr/>
          <a:p/>
        </p:txBody>
      </p:sp>
      <p:sp>
        <p:nvSpPr>
          <p:cNvPr id="16" name="Text 14"/>
          <p:cNvSpPr txBox="1"/>
          <p:nvPr/>
        </p:nvSpPr>
        <p:spPr>
          <a:xfrm>
            <a:off x="9349511" y="1920240"/>
            <a:ext cx="2019224" cy="777240"/>
          </a:xfrm>
          <a:prstGeom prst="rect">
            <a:avLst/>
          </a:prstGeom>
          <a:noFill/>
          <a:ln/>
        </p:spPr>
        <p:txBody>
          <a:bodyPr wrap="square" lIns="0" tIns="0" rIns="0" bIns="0" rtlCol="0" anchor="t"/>
          <a:lstStyle/>
          <a:p>
            <a:pPr indent="0" marL="0">
              <a:buNone/>
            </a:pPr>
            <a:r>
              <a:rPr lang="en-US" sz="4400" b="1" dirty="0">
                <a:solidFill>
                  <a:srgbClr val="0E7C68"/>
                </a:solidFill>
                <a:latin typeface="Cambria" pitchFamily="34" charset="0"/>
                <a:ea typeface="Cambria" pitchFamily="34" charset="-122"/>
                <a:cs typeface="Cambria" pitchFamily="34" charset="-120"/>
              </a:rPr>
              <a:t>138</a:t>
            </a:r>
            <a:endParaRPr lang="en-US" sz="4400" dirty="0"/>
          </a:p>
        </p:txBody>
      </p:sp>
      <p:sp>
        <p:nvSpPr>
          <p:cNvPr id="17" name="Text 15"/>
          <p:cNvSpPr txBox="1"/>
          <p:nvPr/>
        </p:nvSpPr>
        <p:spPr>
          <a:xfrm>
            <a:off x="9349511" y="2743200"/>
            <a:ext cx="2019224" cy="822960"/>
          </a:xfrm>
          <a:prstGeom prst="rect">
            <a:avLst/>
          </a:prstGeom>
          <a:noFill/>
          <a:ln/>
        </p:spPr>
        <p:txBody>
          <a:bodyPr wrap="square" lIns="0" tIns="0" rIns="0" bIns="0" rtlCol="0" anchor="t"/>
          <a:lstStyle/>
          <a:p>
            <a:pPr indent="0" marL="0">
              <a:buNone/>
            </a:pPr>
            <a:r>
              <a:rPr lang="en-US" sz="1300" dirty="0">
                <a:solidFill>
                  <a:srgbClr val="45505F"/>
                </a:solidFill>
                <a:latin typeface="Calibri" pitchFamily="34" charset="0"/>
                <a:ea typeface="Calibri" pitchFamily="34" charset="-122"/>
                <a:cs typeface="Calibri" pitchFamily="34" charset="-120"/>
              </a:rPr>
              <a:t>automated pytest tests</a:t>
            </a:r>
            <a:endParaRPr lang="en-US" sz="1300" dirty="0"/>
          </a:p>
        </p:txBody>
      </p:sp>
      <p:sp>
        <p:nvSpPr>
          <p:cNvPr id="18" name="Shape 16"/>
          <p:cNvSpPr/>
          <p:nvPr/>
        </p:nvSpPr>
        <p:spPr>
          <a:xfrm>
            <a:off x="548640" y="3977640"/>
            <a:ext cx="5410048" cy="1600200"/>
          </a:xfrm>
          <a:prstGeom prst="roundRect">
            <a:avLst>
              <a:gd name="adj" fmla="val 6857"/>
            </a:avLst>
          </a:prstGeom>
          <a:solidFill>
            <a:srgbClr val="0F1B2D"/>
          </a:solidFill>
          <a:ln/>
        </p:spPr>
        <p:txBody>
          <a:bodyPr/>
          <a:p/>
        </p:txBody>
      </p:sp>
      <p:sp>
        <p:nvSpPr>
          <p:cNvPr id="19" name="Text 17"/>
          <p:cNvSpPr txBox="1"/>
          <p:nvPr/>
        </p:nvSpPr>
        <p:spPr>
          <a:xfrm>
            <a:off x="914400" y="4206240"/>
            <a:ext cx="4678528" cy="365760"/>
          </a:xfrm>
          <a:prstGeom prst="rect">
            <a:avLst/>
          </a:prstGeom>
          <a:noFill/>
          <a:ln/>
        </p:spPr>
        <p:txBody>
          <a:bodyPr wrap="square" lIns="0" tIns="0" rIns="0" bIns="0" rtlCol="0" anchor="t"/>
          <a:lstStyle/>
          <a:p>
            <a:pPr indent="0" marL="0">
              <a:buNone/>
            </a:pPr>
            <a:r>
              <a:rPr lang="en-US" sz="1800" b="1" dirty="0">
                <a:solidFill>
                  <a:srgbClr val="F2B84B"/>
                </a:solidFill>
                <a:latin typeface="Calibri" pitchFamily="34" charset="0"/>
                <a:ea typeface="Calibri" pitchFamily="34" charset="-122"/>
                <a:cs typeface="Calibri" pitchFamily="34" charset="-120"/>
              </a:rPr>
              <a:t>Login is slow on purpose</a:t>
            </a:r>
            <a:endParaRPr lang="en-US" sz="1800" dirty="0"/>
          </a:p>
        </p:txBody>
      </p:sp>
      <p:sp>
        <p:nvSpPr>
          <p:cNvPr id="20" name="Text 18"/>
          <p:cNvSpPr txBox="1"/>
          <p:nvPr/>
        </p:nvSpPr>
        <p:spPr>
          <a:xfrm>
            <a:off x="914400" y="4709160"/>
            <a:ext cx="4678528" cy="1005840"/>
          </a:xfrm>
          <a:prstGeom prst="rect">
            <a:avLst/>
          </a:prstGeom>
          <a:noFill/>
          <a:ln/>
        </p:spPr>
        <p:txBody>
          <a:bodyPr wrap="square" lIns="0" tIns="0" rIns="0" bIns="0" rtlCol="0" anchor="t"/>
          <a:lstStyle/>
          <a:p>
            <a:pPr indent="0" marL="0">
              <a:buNone/>
            </a:pPr>
            <a:r>
              <a:rPr lang="en-US" sz="1500" dirty="0">
                <a:solidFill>
                  <a:srgbClr val="DCE2EA"/>
                </a:solidFill>
                <a:latin typeface="Calibri" pitchFamily="34" charset="0"/>
                <a:ea typeface="Calibri" pitchFamily="34" charset="-122"/>
                <a:cs typeface="Calibri" pitchFamily="34" charset="-120"/>
              </a:rPr>
              <a:t>bcrypt puts login at about 850 ms median. Authenticated reads run at 20–33 ms.</a:t>
            </a:r>
            <a:endParaRPr lang="en-US" sz="1500" dirty="0"/>
          </a:p>
        </p:txBody>
      </p:sp>
      <p:sp>
        <p:nvSpPr>
          <p:cNvPr id="21" name="Shape 19"/>
          <p:cNvSpPr/>
          <p:nvPr/>
        </p:nvSpPr>
        <p:spPr>
          <a:xfrm>
            <a:off x="6233008" y="3977640"/>
            <a:ext cx="5410048" cy="1600200"/>
          </a:xfrm>
          <a:prstGeom prst="roundRect">
            <a:avLst>
              <a:gd name="adj" fmla="val 6857"/>
            </a:avLst>
          </a:prstGeom>
          <a:solidFill>
            <a:srgbClr val="0F1B2D"/>
          </a:solidFill>
          <a:ln/>
        </p:spPr>
        <p:txBody>
          <a:bodyPr/>
          <a:p/>
        </p:txBody>
      </p:sp>
      <p:sp>
        <p:nvSpPr>
          <p:cNvPr id="22" name="Text 20"/>
          <p:cNvSpPr txBox="1"/>
          <p:nvPr/>
        </p:nvSpPr>
        <p:spPr>
          <a:xfrm>
            <a:off x="6598768" y="4206240"/>
            <a:ext cx="4678528" cy="365760"/>
          </a:xfrm>
          <a:prstGeom prst="rect">
            <a:avLst/>
          </a:prstGeom>
          <a:noFill/>
          <a:ln/>
        </p:spPr>
        <p:txBody>
          <a:bodyPr wrap="square" lIns="0" tIns="0" rIns="0" bIns="0" rtlCol="0" anchor="t"/>
          <a:lstStyle/>
          <a:p>
            <a:pPr indent="0" marL="0">
              <a:buNone/>
            </a:pPr>
            <a:r>
              <a:rPr lang="en-US" sz="1800" b="1" dirty="0">
                <a:solidFill>
                  <a:srgbClr val="F2B84B"/>
                </a:solidFill>
                <a:latin typeface="Calibri" pitchFamily="34" charset="0"/>
                <a:ea typeface="Calibri" pitchFamily="34" charset="-122"/>
                <a:cs typeface="Calibri" pitchFamily="34" charset="-120"/>
              </a:rPr>
              <a:t>Settlement waits on consensus</a:t>
            </a:r>
            <a:endParaRPr lang="en-US" sz="1800" dirty="0"/>
          </a:p>
        </p:txBody>
      </p:sp>
      <p:sp>
        <p:nvSpPr>
          <p:cNvPr id="23" name="Text 21"/>
          <p:cNvSpPr txBox="1"/>
          <p:nvPr/>
        </p:nvSpPr>
        <p:spPr>
          <a:xfrm>
            <a:off x="6598768" y="4709160"/>
            <a:ext cx="4678528" cy="1005840"/>
          </a:xfrm>
          <a:prstGeom prst="rect">
            <a:avLst/>
          </a:prstGeom>
          <a:noFill/>
          <a:ln/>
        </p:spPr>
        <p:txBody>
          <a:bodyPr wrap="square" lIns="0" tIns="0" rIns="0" bIns="0" rtlCol="0" anchor="t"/>
          <a:lstStyle/>
          <a:p>
            <a:pPr indent="0" marL="0">
              <a:buNone/>
            </a:pPr>
            <a:r>
              <a:rPr lang="en-US" sz="1500" dirty="0">
                <a:solidFill>
                  <a:srgbClr val="DCE2EA"/>
                </a:solidFill>
                <a:latin typeface="Calibri" pitchFamily="34" charset="0"/>
                <a:ea typeface="Calibri" pitchFamily="34" charset="-122"/>
                <a:cs typeface="Calibri" pitchFamily="34" charset="-120"/>
              </a:rPr>
              <a:t>Payments took 12.4–16.2 s each, waiting for Testnet to validate. Our code can't shorten that.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t"/>
          <a:lstStyle/>
          <a:p>
            <a:pPr indent="0" marL="0">
              <a:buNone/>
            </a:pPr>
            <a:r>
              <a:rPr lang="en-US" sz="1200" b="1" spc="300" kern="0" dirty="0">
                <a:solidFill>
                  <a:srgbClr val="0E7C68"/>
                </a:solidFill>
                <a:latin typeface="Calibri" pitchFamily="34" charset="0"/>
                <a:ea typeface="Calibri" pitchFamily="34" charset="-122"/>
                <a:cs typeface="Calibri" pitchFamily="34" charset="-120"/>
              </a:rPr>
              <a:t>LESSONS LEARNED</a:t>
            </a:r>
            <a:endParaRPr lang="en-US" sz="1200" dirty="0"/>
          </a:p>
        </p:txBody>
      </p:sp>
      <p:sp>
        <p:nvSpPr>
          <p:cNvPr id="3" name="Text 1"/>
          <p:cNvSpPr txBox="1"/>
          <p:nvPr/>
        </p:nvSpPr>
        <p:spPr>
          <a:xfrm>
            <a:off x="548640" y="749808"/>
            <a:ext cx="11094415" cy="685800"/>
          </a:xfrm>
          <a:prstGeom prst="rect">
            <a:avLst/>
          </a:prstGeom>
          <a:noFill/>
          <a:ln/>
        </p:spPr>
        <p:txBody>
          <a:bodyPr wrap="square" lIns="0" tIns="0" rIns="0" bIns="0" rtlCol="0" anchor="t"/>
          <a:lstStyle/>
          <a:p>
            <a:pPr indent="0" marL="0">
              <a:buNone/>
            </a:pPr>
            <a:r>
              <a:rPr lang="en-US" sz="3200" b="1" dirty="0">
                <a:solidFill>
                  <a:srgbClr val="0F1B2D"/>
                </a:solidFill>
                <a:latin typeface="Cambria" pitchFamily="34" charset="0"/>
                <a:ea typeface="Cambria" pitchFamily="34" charset="-122"/>
                <a:cs typeface="Cambria" pitchFamily="34" charset="-120"/>
              </a:rPr>
              <a:t>What the first version taught us</a:t>
            </a:r>
            <a:endParaRPr lang="en-US" sz="3200" dirty="0"/>
          </a:p>
        </p:txBody>
      </p:sp>
      <p:sp>
        <p:nvSpPr>
          <p:cNvPr id="4" name="Text 2"/>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Baobab · Group 3</a:t>
            </a:r>
            <a:endParaRPr lang="en-US" sz="1100" dirty="0"/>
          </a:p>
        </p:txBody>
      </p:sp>
      <p:sp>
        <p:nvSpPr>
          <p:cNvPr id="5" name="Text 3"/>
          <p:cNvSpPr txBox="1"/>
          <p:nvPr/>
        </p:nvSpPr>
        <p:spPr>
          <a:xfrm>
            <a:off x="10728655" y="6355080"/>
            <a:ext cx="914400" cy="274320"/>
          </a:xfrm>
          <a:prstGeom prst="rect">
            <a:avLst/>
          </a:prstGeom>
          <a:noFill/>
          <a:ln/>
        </p:spPr>
        <p:txBody>
          <a:bodyPr wrap="square" lIns="0" tIns="0" rIns="0" bIns="0" rtlCol="0" anchor="t"/>
          <a:lstStyle/>
          <a:p>
            <a:pPr algn="r" indent="0" marL="0">
              <a:buNone/>
            </a:pPr>
            <a:r>
              <a:rPr lang="en-US" sz="1100" dirty="0">
                <a:solidFill>
                  <a:srgbClr val="5B6472"/>
                </a:solidFill>
                <a:latin typeface="Calibri" pitchFamily="34" charset="0"/>
                <a:ea typeface="Calibri" pitchFamily="34" charset="-122"/>
                <a:cs typeface="Calibri" pitchFamily="34" charset="-120"/>
              </a:rPr>
              <a:t>12</a:t>
            </a:r>
            <a:endParaRPr lang="en-US" sz="1100" dirty="0"/>
          </a:p>
        </p:txBody>
      </p:sp>
      <p:sp>
        <p:nvSpPr>
          <p:cNvPr id="6" name="Shape 4"/>
          <p:cNvSpPr/>
          <p:nvPr/>
        </p:nvSpPr>
        <p:spPr>
          <a:xfrm>
            <a:off x="548640" y="1737360"/>
            <a:ext cx="3515258" cy="1828800"/>
          </a:xfrm>
          <a:prstGeom prst="roundRect">
            <a:avLst>
              <a:gd name="adj" fmla="val 6000"/>
            </a:avLst>
          </a:prstGeom>
          <a:solidFill>
            <a:srgbClr val="F3F5F7"/>
          </a:solidFill>
          <a:ln w="12700">
            <a:solidFill>
              <a:srgbClr val="DDE2E7"/>
            </a:solidFill>
            <a:prstDash val="solid"/>
          </a:ln>
        </p:spPr>
        <p:txBody>
          <a:bodyPr/>
          <a:p/>
        </p:txBody>
      </p:sp>
      <p:sp>
        <p:nvSpPr>
          <p:cNvPr id="7" name="Text 5"/>
          <p:cNvSpPr txBox="1"/>
          <p:nvPr/>
        </p:nvSpPr>
        <p:spPr>
          <a:xfrm>
            <a:off x="822960" y="2011680"/>
            <a:ext cx="2966618"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Fix money paths first</a:t>
            </a:r>
            <a:endParaRPr lang="en-US" sz="1800" dirty="0"/>
          </a:p>
        </p:txBody>
      </p:sp>
      <p:sp>
        <p:nvSpPr>
          <p:cNvPr id="8" name="Text 6"/>
          <p:cNvSpPr txBox="1"/>
          <p:nvPr/>
        </p:nvSpPr>
        <p:spPr>
          <a:xfrm>
            <a:off x="822960" y="2514600"/>
            <a:ext cx="2966618" cy="1097280"/>
          </a:xfrm>
          <a:prstGeom prst="rect">
            <a:avLst/>
          </a:prstGeom>
          <a:noFill/>
          <a:ln/>
        </p:spPr>
        <p:txBody>
          <a:bodyPr wrap="square" lIns="0" tIns="0" rIns="0" bIns="0" rtlCol="0" anchor="t"/>
          <a:lstStyle/>
          <a:p>
            <a:pPr indent="0" marL="0">
              <a:buNone/>
            </a:pPr>
            <a:r>
              <a:rPr lang="en-US" sz="1500" dirty="0">
                <a:solidFill>
                  <a:srgbClr val="45505F"/>
                </a:solidFill>
                <a:latin typeface="Calibri" pitchFamily="34" charset="0"/>
                <a:ea typeface="Calibri" pitchFamily="34" charset="-122"/>
                <a:cs typeface="Calibri" pitchFamily="34" charset="-120"/>
              </a:rPr>
              <a:t>Bugs that lose value went in Patch A; features for senders waited for Patch B.</a:t>
            </a:r>
            <a:endParaRPr lang="en-US" sz="1500" dirty="0"/>
          </a:p>
        </p:txBody>
      </p:sp>
      <p:sp>
        <p:nvSpPr>
          <p:cNvPr id="9" name="Shape 7"/>
          <p:cNvSpPr/>
          <p:nvPr/>
        </p:nvSpPr>
        <p:spPr>
          <a:xfrm>
            <a:off x="4338218" y="1737360"/>
            <a:ext cx="3515258" cy="1828800"/>
          </a:xfrm>
          <a:prstGeom prst="roundRect">
            <a:avLst>
              <a:gd name="adj" fmla="val 6000"/>
            </a:avLst>
          </a:prstGeom>
          <a:solidFill>
            <a:srgbClr val="F3F5F7"/>
          </a:solidFill>
          <a:ln w="12700">
            <a:solidFill>
              <a:srgbClr val="DDE2E7"/>
            </a:solidFill>
            <a:prstDash val="solid"/>
          </a:ln>
        </p:spPr>
        <p:txBody>
          <a:bodyPr/>
          <a:p/>
        </p:txBody>
      </p:sp>
      <p:sp>
        <p:nvSpPr>
          <p:cNvPr id="10" name="Text 8"/>
          <p:cNvSpPr txBox="1"/>
          <p:nvPr/>
        </p:nvSpPr>
        <p:spPr>
          <a:xfrm>
            <a:off x="4612538" y="2011680"/>
            <a:ext cx="2966618"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Acknowledge when done</a:t>
            </a:r>
            <a:endParaRPr lang="en-US" sz="1800" dirty="0"/>
          </a:p>
        </p:txBody>
      </p:sp>
      <p:sp>
        <p:nvSpPr>
          <p:cNvPr id="11" name="Text 9"/>
          <p:cNvSpPr txBox="1"/>
          <p:nvPr/>
        </p:nvSpPr>
        <p:spPr>
          <a:xfrm>
            <a:off x="4612538" y="2514600"/>
            <a:ext cx="2966618" cy="1097280"/>
          </a:xfrm>
          <a:prstGeom prst="rect">
            <a:avLst/>
          </a:prstGeom>
          <a:noFill/>
          <a:ln/>
        </p:spPr>
        <p:txBody>
          <a:bodyPr wrap="square" lIns="0" tIns="0" rIns="0" bIns="0" rtlCol="0" anchor="t"/>
          <a:lstStyle/>
          <a:p>
            <a:pPr indent="0" marL="0">
              <a:buNone/>
            </a:pPr>
            <a:r>
              <a:rPr lang="en-US" sz="1500" dirty="0">
                <a:solidFill>
                  <a:srgbClr val="45505F"/>
                </a:solidFill>
                <a:latin typeface="Calibri" pitchFamily="34" charset="0"/>
                <a:ea typeface="Calibri" pitchFamily="34" charset="-122"/>
                <a:cs typeface="Calibri" pitchFamily="34" charset="-120"/>
              </a:rPr>
              <a:t>Acking on pickup lost jobs after a crash. Now we ack only on completed or failed.</a:t>
            </a:r>
            <a:endParaRPr lang="en-US" sz="1500" dirty="0"/>
          </a:p>
        </p:txBody>
      </p:sp>
      <p:sp>
        <p:nvSpPr>
          <p:cNvPr id="12" name="Shape 10"/>
          <p:cNvSpPr/>
          <p:nvPr/>
        </p:nvSpPr>
        <p:spPr>
          <a:xfrm>
            <a:off x="8127797" y="1737360"/>
            <a:ext cx="3515258" cy="1828800"/>
          </a:xfrm>
          <a:prstGeom prst="roundRect">
            <a:avLst>
              <a:gd name="adj" fmla="val 6000"/>
            </a:avLst>
          </a:prstGeom>
          <a:solidFill>
            <a:srgbClr val="F3F5F7"/>
          </a:solidFill>
          <a:ln w="12700">
            <a:solidFill>
              <a:srgbClr val="DDE2E7"/>
            </a:solidFill>
            <a:prstDash val="solid"/>
          </a:ln>
        </p:spPr>
        <p:txBody>
          <a:bodyPr/>
          <a:p/>
        </p:txBody>
      </p:sp>
      <p:sp>
        <p:nvSpPr>
          <p:cNvPr id="13" name="Text 11"/>
          <p:cNvSpPr txBox="1"/>
          <p:nvPr/>
        </p:nvSpPr>
        <p:spPr>
          <a:xfrm>
            <a:off x="8402117" y="2011680"/>
            <a:ext cx="2966618"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Make payments idempotent</a:t>
            </a:r>
            <a:endParaRPr lang="en-US" sz="1800" dirty="0"/>
          </a:p>
        </p:txBody>
      </p:sp>
      <p:sp>
        <p:nvSpPr>
          <p:cNvPr id="14" name="Text 12"/>
          <p:cNvSpPr txBox="1"/>
          <p:nvPr/>
        </p:nvSpPr>
        <p:spPr>
          <a:xfrm>
            <a:off x="8402117" y="2514600"/>
            <a:ext cx="2966618" cy="1097280"/>
          </a:xfrm>
          <a:prstGeom prst="rect">
            <a:avLst/>
          </a:prstGeom>
          <a:noFill/>
          <a:ln/>
        </p:spPr>
        <p:txBody>
          <a:bodyPr wrap="square" lIns="0" tIns="0" rIns="0" bIns="0" rtlCol="0" anchor="t"/>
          <a:lstStyle/>
          <a:p>
            <a:pPr indent="0" marL="0">
              <a:buNone/>
            </a:pPr>
            <a:r>
              <a:rPr lang="en-US" sz="1500" dirty="0">
                <a:solidFill>
                  <a:srgbClr val="45505F"/>
                </a:solidFill>
                <a:latin typeface="Calibri" pitchFamily="34" charset="0"/>
                <a:ea typeface="Calibri" pitchFamily="34" charset="-122"/>
                <a:cs typeface="Calibri" pitchFamily="34" charset="-120"/>
              </a:rPr>
              <a:t>A crash after paying could pay twice. A stored hash now short-circuits any retry.</a:t>
            </a:r>
            <a:endParaRPr lang="en-US" sz="1500" dirty="0"/>
          </a:p>
        </p:txBody>
      </p:sp>
      <p:sp>
        <p:nvSpPr>
          <p:cNvPr id="15" name="Shape 13"/>
          <p:cNvSpPr/>
          <p:nvPr/>
        </p:nvSpPr>
        <p:spPr>
          <a:xfrm>
            <a:off x="548640" y="3840480"/>
            <a:ext cx="3515258" cy="1828800"/>
          </a:xfrm>
          <a:prstGeom prst="roundRect">
            <a:avLst>
              <a:gd name="adj" fmla="val 6000"/>
            </a:avLst>
          </a:prstGeom>
          <a:solidFill>
            <a:srgbClr val="F3F5F7"/>
          </a:solidFill>
          <a:ln w="12700">
            <a:solidFill>
              <a:srgbClr val="DDE2E7"/>
            </a:solidFill>
            <a:prstDash val="solid"/>
          </a:ln>
        </p:spPr>
        <p:txBody>
          <a:bodyPr/>
          <a:p/>
        </p:txBody>
      </p:sp>
      <p:sp>
        <p:nvSpPr>
          <p:cNvPr id="16" name="Text 14"/>
          <p:cNvSpPr txBox="1"/>
          <p:nvPr/>
        </p:nvSpPr>
        <p:spPr>
          <a:xfrm>
            <a:off x="822960" y="4114800"/>
            <a:ext cx="2966618"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Limits count real intent</a:t>
            </a:r>
            <a:endParaRPr lang="en-US" sz="1800" dirty="0"/>
          </a:p>
        </p:txBody>
      </p:sp>
      <p:sp>
        <p:nvSpPr>
          <p:cNvPr id="17" name="Text 15"/>
          <p:cNvSpPr txBox="1"/>
          <p:nvPr/>
        </p:nvSpPr>
        <p:spPr>
          <a:xfrm>
            <a:off x="822960" y="4617720"/>
            <a:ext cx="2966618" cy="1097280"/>
          </a:xfrm>
          <a:prstGeom prst="rect">
            <a:avLst/>
          </a:prstGeom>
          <a:noFill/>
          <a:ln/>
        </p:spPr>
        <p:txBody>
          <a:bodyPr wrap="square" lIns="0" tIns="0" rIns="0" bIns="0" rtlCol="0" anchor="t"/>
          <a:lstStyle/>
          <a:p>
            <a:pPr indent="0" marL="0">
              <a:buNone/>
            </a:pPr>
            <a:r>
              <a:rPr lang="en-US" sz="1500" dirty="0">
                <a:solidFill>
                  <a:srgbClr val="45505F"/>
                </a:solidFill>
                <a:latin typeface="Calibri" pitchFamily="34" charset="0"/>
                <a:ea typeface="Calibri" pitchFamily="34" charset="-122"/>
                <a:cs typeface="Calibri" pitchFamily="34" charset="-120"/>
              </a:rPr>
              <a:t>Abandoned quotes used to burn the daily cap. Quotes now expire and can be cancelled.</a:t>
            </a:r>
            <a:endParaRPr lang="en-US" sz="1500" dirty="0"/>
          </a:p>
        </p:txBody>
      </p:sp>
      <p:sp>
        <p:nvSpPr>
          <p:cNvPr id="18" name="Shape 16"/>
          <p:cNvSpPr/>
          <p:nvPr/>
        </p:nvSpPr>
        <p:spPr>
          <a:xfrm>
            <a:off x="4338218" y="3840480"/>
            <a:ext cx="3515258" cy="1828800"/>
          </a:xfrm>
          <a:prstGeom prst="roundRect">
            <a:avLst>
              <a:gd name="adj" fmla="val 6000"/>
            </a:avLst>
          </a:prstGeom>
          <a:solidFill>
            <a:srgbClr val="F3F5F7"/>
          </a:solidFill>
          <a:ln w="12700">
            <a:solidFill>
              <a:srgbClr val="DDE2E7"/>
            </a:solidFill>
            <a:prstDash val="solid"/>
          </a:ln>
        </p:spPr>
        <p:txBody>
          <a:bodyPr/>
          <a:p/>
        </p:txBody>
      </p:sp>
      <p:sp>
        <p:nvSpPr>
          <p:cNvPr id="19" name="Text 17"/>
          <p:cNvSpPr txBox="1"/>
          <p:nvPr/>
        </p:nvSpPr>
        <p:spPr>
          <a:xfrm>
            <a:off x="4612538" y="4114800"/>
            <a:ext cx="2966618"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Fail loudly</a:t>
            </a:r>
            <a:endParaRPr lang="en-US" sz="1800" dirty="0"/>
          </a:p>
        </p:txBody>
      </p:sp>
      <p:sp>
        <p:nvSpPr>
          <p:cNvPr id="20" name="Text 18"/>
          <p:cNvSpPr txBox="1"/>
          <p:nvPr/>
        </p:nvSpPr>
        <p:spPr>
          <a:xfrm>
            <a:off x="4612538" y="4617720"/>
            <a:ext cx="2966618" cy="1097280"/>
          </a:xfrm>
          <a:prstGeom prst="rect">
            <a:avLst/>
          </a:prstGeom>
          <a:noFill/>
          <a:ln/>
        </p:spPr>
        <p:txBody>
          <a:bodyPr wrap="square" lIns="0" tIns="0" rIns="0" bIns="0" rtlCol="0" anchor="t"/>
          <a:lstStyle/>
          <a:p>
            <a:pPr indent="0" marL="0">
              <a:buNone/>
            </a:pPr>
            <a:r>
              <a:rPr lang="en-US" sz="1500" dirty="0">
                <a:solidFill>
                  <a:srgbClr val="45505F"/>
                </a:solidFill>
                <a:latin typeface="Calibri" pitchFamily="34" charset="0"/>
                <a:ea typeface="Calibri" pitchFamily="34" charset="-122"/>
                <a:cs typeface="Calibri" pitchFamily="34" charset="-120"/>
              </a:rPr>
              <a:t>create_all silently skipped new columns; a bad key read as blank. Alembic and hard errors fixed both.</a:t>
            </a:r>
            <a:endParaRPr lang="en-US" sz="1500" dirty="0"/>
          </a:p>
        </p:txBody>
      </p:sp>
      <p:sp>
        <p:nvSpPr>
          <p:cNvPr id="21" name="Shape 19"/>
          <p:cNvSpPr/>
          <p:nvPr/>
        </p:nvSpPr>
        <p:spPr>
          <a:xfrm>
            <a:off x="8127797" y="3840480"/>
            <a:ext cx="3515258" cy="1828800"/>
          </a:xfrm>
          <a:prstGeom prst="roundRect">
            <a:avLst>
              <a:gd name="adj" fmla="val 6000"/>
            </a:avLst>
          </a:prstGeom>
          <a:solidFill>
            <a:srgbClr val="F3F5F7"/>
          </a:solidFill>
          <a:ln w="12700">
            <a:solidFill>
              <a:srgbClr val="DDE2E7"/>
            </a:solidFill>
            <a:prstDash val="solid"/>
          </a:ln>
        </p:spPr>
        <p:txBody>
          <a:bodyPr/>
          <a:p/>
        </p:txBody>
      </p:sp>
      <p:sp>
        <p:nvSpPr>
          <p:cNvPr id="22" name="Text 20"/>
          <p:cNvSpPr txBox="1"/>
          <p:nvPr/>
        </p:nvSpPr>
        <p:spPr>
          <a:xfrm>
            <a:off x="8402117" y="4114800"/>
            <a:ext cx="2966618" cy="365760"/>
          </a:xfrm>
          <a:prstGeom prst="rect">
            <a:avLst/>
          </a:prstGeom>
          <a:noFill/>
          <a:ln/>
        </p:spPr>
        <p:txBody>
          <a:bodyPr wrap="square" lIns="0" tIns="0" rIns="0" bIns="0" rtlCol="0" anchor="t"/>
          <a:lstStyle/>
          <a:p>
            <a:pPr indent="0" marL="0">
              <a:buNone/>
            </a:pPr>
            <a:r>
              <a:rPr lang="en-US" sz="1800" b="1" dirty="0">
                <a:solidFill>
                  <a:srgbClr val="0F1B2D"/>
                </a:solidFill>
                <a:latin typeface="Calibri" pitchFamily="34" charset="0"/>
                <a:ea typeface="Calibri" pitchFamily="34" charset="-122"/>
                <a:cs typeface="Calibri" pitchFamily="34" charset="-120"/>
              </a:rPr>
              <a:t>Measure the ledger</a:t>
            </a:r>
            <a:endParaRPr lang="en-US" sz="1800" dirty="0"/>
          </a:p>
        </p:txBody>
      </p:sp>
      <p:sp>
        <p:nvSpPr>
          <p:cNvPr id="23" name="Text 21"/>
          <p:cNvSpPr txBox="1"/>
          <p:nvPr/>
        </p:nvSpPr>
        <p:spPr>
          <a:xfrm>
            <a:off x="8402117" y="4617720"/>
            <a:ext cx="2966618" cy="1097280"/>
          </a:xfrm>
          <a:prstGeom prst="rect">
            <a:avLst/>
          </a:prstGeom>
          <a:noFill/>
          <a:ln/>
        </p:spPr>
        <p:txBody>
          <a:bodyPr wrap="square" lIns="0" tIns="0" rIns="0" bIns="0" rtlCol="0" anchor="t"/>
          <a:lstStyle/>
          <a:p>
            <a:pPr indent="0" marL="0">
              <a:buNone/>
            </a:pPr>
            <a:r>
              <a:rPr lang="en-US" sz="1500" dirty="0">
                <a:solidFill>
                  <a:srgbClr val="45505F"/>
                </a:solidFill>
                <a:latin typeface="Calibri" pitchFamily="34" charset="0"/>
                <a:ea typeface="Calibri" pitchFamily="34" charset="-122"/>
                <a:cs typeface="Calibri" pitchFamily="34" charset="-120"/>
              </a:rPr>
              <a:t>Settlement time is consensus, not our code. Benchmarking told us where not to optimise.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274320"/>
          </a:xfrm>
          <a:prstGeom prst="rect">
            <a:avLst/>
          </a:prstGeom>
          <a:noFill/>
          <a:ln/>
        </p:spPr>
        <p:txBody>
          <a:bodyPr wrap="square" lIns="0" tIns="0" rIns="0" bIns="0" rtlCol="0" anchor="t"/>
          <a:lstStyle/>
          <a:p>
            <a:pPr indent="0" marL="0">
              <a:buNone/>
            </a:pPr>
            <a:r>
              <a:rPr lang="en-US" sz="1200" b="1" spc="300" kern="0" dirty="0">
                <a:solidFill>
                  <a:srgbClr val="F2B84B"/>
                </a:solidFill>
                <a:latin typeface="Calibri" pitchFamily="34" charset="0"/>
                <a:ea typeface="Calibri" pitchFamily="34" charset="-122"/>
                <a:cs typeface="Calibri" pitchFamily="34" charset="-120"/>
              </a:rPr>
              <a:t>WHERE IT GOES NEXT</a:t>
            </a:r>
            <a:endParaRPr lang="en-US" sz="1200" dirty="0"/>
          </a:p>
        </p:txBody>
      </p:sp>
      <p:sp>
        <p:nvSpPr>
          <p:cNvPr id="3" name="Text 1"/>
          <p:cNvSpPr txBox="1"/>
          <p:nvPr/>
        </p:nvSpPr>
        <p:spPr>
          <a:xfrm>
            <a:off x="548640" y="749808"/>
            <a:ext cx="11094415"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Known gaps and next steps</a:t>
            </a:r>
            <a:endParaRPr lang="en-US" sz="3200" dirty="0"/>
          </a:p>
        </p:txBody>
      </p:sp>
      <p:sp>
        <p:nvSpPr>
          <p:cNvPr id="4" name="Text 2"/>
          <p:cNvSpPr txBox="1"/>
          <p:nvPr/>
        </p:nvSpPr>
        <p:spPr>
          <a:xfrm>
            <a:off x="548640" y="1783080"/>
            <a:ext cx="5303520" cy="365760"/>
          </a:xfrm>
          <a:prstGeom prst="rect">
            <a:avLst/>
          </a:prstGeom>
          <a:noFill/>
          <a:ln/>
        </p:spPr>
        <p:txBody>
          <a:bodyPr wrap="square" lIns="0" tIns="0" rIns="0" bIns="0" rtlCol="0" anchor="t"/>
          <a:lstStyle/>
          <a:p>
            <a:pPr indent="0" marL="0">
              <a:buNone/>
            </a:pPr>
            <a:r>
              <a:rPr lang="en-US" sz="1800" b="1" dirty="0">
                <a:solidFill>
                  <a:srgbClr val="F2B84B"/>
                </a:solidFill>
                <a:latin typeface="Calibri" pitchFamily="34" charset="0"/>
                <a:ea typeface="Calibri" pitchFamily="34" charset="-122"/>
                <a:cs typeface="Calibri" pitchFamily="34" charset="-120"/>
              </a:rPr>
              <a:t>Known gaps</a:t>
            </a:r>
            <a:endParaRPr lang="en-US" sz="1800" dirty="0"/>
          </a:p>
        </p:txBody>
      </p:sp>
      <p:sp>
        <p:nvSpPr>
          <p:cNvPr id="5" name="Text 3"/>
          <p:cNvSpPr txBox="1"/>
          <p:nvPr/>
        </p:nvSpPr>
        <p:spPr>
          <a:xfrm>
            <a:off x="548640" y="2286000"/>
            <a:ext cx="530352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DCE2EA"/>
                </a:solidFill>
                <a:latin typeface="Calibri" pitchFamily="34" charset="0"/>
                <a:ea typeface="Calibri" pitchFamily="34" charset="-122"/>
                <a:cs typeface="Calibri" pitchFamily="34" charset="-120"/>
              </a:rPr>
              <a:t>No row lock between the limit check and the quote insert, so two parallel quotes could exceed a cap</a:t>
            </a:r>
            <a:endParaRPr lang="en-US" sz="1600" dirty="0"/>
          </a:p>
          <a:p>
            <a:pPr marL="342900" indent="-342900">
              <a:spcAft>
                <a:spcPts val="800"/>
              </a:spcAft>
              <a:buSzPct val="100000"/>
              <a:buChar char="•"/>
            </a:pPr>
            <a:r>
              <a:rPr lang="en-US" sz="1600" dirty="0">
                <a:solidFill>
                  <a:srgbClr val="DCE2EA"/>
                </a:solidFill>
                <a:latin typeface="Calibri" pitchFamily="34" charset="0"/>
                <a:ea typeface="Calibri" pitchFamily="34" charset="-122"/>
                <a:cs typeface="Calibri" pitchFamily="34" charset="-120"/>
              </a:rPr>
              <a:t>SQLite in development; no AML rules engine or sanctions screening</a:t>
            </a:r>
            <a:endParaRPr lang="en-US" sz="1600" dirty="0"/>
          </a:p>
          <a:p>
            <a:pPr marL="342900" indent="-342900">
              <a:spcAft>
                <a:spcPts val="800"/>
              </a:spcAft>
              <a:buSzPct val="100000"/>
              <a:buChar char="•"/>
            </a:pPr>
            <a:r>
              <a:rPr lang="en-US" sz="1600" dirty="0">
                <a:solidFill>
                  <a:srgbClr val="DCE2EA"/>
                </a:solidFill>
                <a:latin typeface="Calibri" pitchFamily="34" charset="0"/>
                <a:ea typeface="Calibri" pitchFamily="34" charset="-122"/>
                <a:cs typeface="Calibri" pitchFamily="34" charset="-120"/>
              </a:rPr>
              <a:t>Cash-in and cash-out are simulated</a:t>
            </a:r>
            <a:endParaRPr lang="en-US" sz="1600" dirty="0"/>
          </a:p>
        </p:txBody>
      </p:sp>
      <p:sp>
        <p:nvSpPr>
          <p:cNvPr id="6" name="Text 4"/>
          <p:cNvSpPr txBox="1"/>
          <p:nvPr/>
        </p:nvSpPr>
        <p:spPr>
          <a:xfrm>
            <a:off x="6336792" y="1783080"/>
            <a:ext cx="5303520" cy="365760"/>
          </a:xfrm>
          <a:prstGeom prst="rect">
            <a:avLst/>
          </a:prstGeom>
          <a:noFill/>
          <a:ln/>
        </p:spPr>
        <p:txBody>
          <a:bodyPr wrap="square" lIns="0" tIns="0" rIns="0" bIns="0" rtlCol="0" anchor="t"/>
          <a:lstStyle/>
          <a:p>
            <a:pPr indent="0" marL="0">
              <a:buNone/>
            </a:pPr>
            <a:r>
              <a:rPr lang="en-US" sz="1800" b="1" dirty="0">
                <a:solidFill>
                  <a:srgbClr val="F2B84B"/>
                </a:solidFill>
                <a:latin typeface="Calibri" pitchFamily="34" charset="0"/>
                <a:ea typeface="Calibri" pitchFamily="34" charset="-122"/>
                <a:cs typeface="Calibri" pitchFamily="34" charset="-120"/>
              </a:rPr>
              <a:t>Next steps</a:t>
            </a:r>
            <a:endParaRPr lang="en-US" sz="1800" dirty="0"/>
          </a:p>
        </p:txBody>
      </p:sp>
      <p:sp>
        <p:nvSpPr>
          <p:cNvPr id="7" name="Text 5"/>
          <p:cNvSpPr txBox="1"/>
          <p:nvPr/>
        </p:nvSpPr>
        <p:spPr>
          <a:xfrm>
            <a:off x="6336792" y="2286000"/>
            <a:ext cx="530352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DCE2EA"/>
                </a:solidFill>
                <a:latin typeface="Calibri" pitchFamily="34" charset="0"/>
                <a:ea typeface="Calibri" pitchFamily="34" charset="-122"/>
                <a:cs typeface="Calibri" pitchFamily="34" charset="-120"/>
              </a:rPr>
              <a:t>A production database with locking on limit checks</a:t>
            </a:r>
            <a:endParaRPr lang="en-US" sz="1600" dirty="0"/>
          </a:p>
          <a:p>
            <a:pPr marL="342900" indent="-342900">
              <a:spcAft>
                <a:spcPts val="800"/>
              </a:spcAft>
              <a:buSzPct val="100000"/>
              <a:buChar char="•"/>
            </a:pPr>
            <a:r>
              <a:rPr lang="en-US" sz="1600" dirty="0">
                <a:solidFill>
                  <a:srgbClr val="DCE2EA"/>
                </a:solidFill>
                <a:latin typeface="Calibri" pitchFamily="34" charset="0"/>
                <a:ea typeface="Calibri" pitchFamily="34" charset="-122"/>
                <a:cs typeface="Calibri" pitchFamily="34" charset="-120"/>
              </a:rPr>
              <a:t>Exchange rates from the Kraken API</a:t>
            </a:r>
            <a:endParaRPr lang="en-US" sz="1600" dirty="0"/>
          </a:p>
          <a:p>
            <a:pPr marL="342900" indent="-342900">
              <a:spcAft>
                <a:spcPts val="800"/>
              </a:spcAft>
              <a:buSzPct val="100000"/>
              <a:buChar char="•"/>
            </a:pPr>
            <a:r>
              <a:rPr lang="en-US" sz="1600" dirty="0">
                <a:solidFill>
                  <a:srgbClr val="DCE2EA"/>
                </a:solidFill>
                <a:latin typeface="Calibri" pitchFamily="34" charset="0"/>
                <a:ea typeface="Calibri" pitchFamily="34" charset="-122"/>
                <a:cs typeface="Calibri" pitchFamily="34" charset="-120"/>
              </a:rPr>
              <a:t>Evaluate Celery or RQ for background work</a:t>
            </a:r>
            <a:endParaRPr lang="en-US" sz="1600" dirty="0"/>
          </a:p>
          <a:p>
            <a:pPr marL="342900" indent="-342900">
              <a:spcAft>
                <a:spcPts val="800"/>
              </a:spcAft>
              <a:buSzPct val="100000"/>
              <a:buChar char="•"/>
            </a:pPr>
            <a:r>
              <a:rPr lang="en-US" sz="1600" dirty="0">
                <a:solidFill>
                  <a:srgbClr val="DCE2EA"/>
                </a:solidFill>
                <a:latin typeface="Calibri" pitchFamily="34" charset="0"/>
                <a:ea typeface="Calibri" pitchFamily="34" charset="-122"/>
                <a:cs typeface="Calibri" pitchFamily="34" charset="-120"/>
              </a:rPr>
              <a:t>Point settlement at official RLUSD once funded</a:t>
            </a:r>
            <a:endParaRPr lang="en-US" sz="1600" dirty="0"/>
          </a:p>
        </p:txBody>
      </p:sp>
      <p:sp>
        <p:nvSpPr>
          <p:cNvPr id="8" name="Text 6"/>
          <p:cNvSpPr txBox="1"/>
          <p:nvPr/>
        </p:nvSpPr>
        <p:spPr>
          <a:xfrm>
            <a:off x="548640" y="5394960"/>
            <a:ext cx="11094415" cy="73152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Thank you. Questions?</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Cross-border remittances on the XRP Ledger</dc:title>
  <dc:subject>PptxGenJS Presentation</dc:subject>
  <dc:creator>Group 3</dc:creator>
  <cp:lastModifiedBy>Group 3</cp:lastModifiedBy>
  <cp:revision>1</cp:revision>
  <dcterms:created xsi:type="dcterms:W3CDTF">2026-09-24T18:52:04Z</dcterms:created>
  <dcterms:modified xsi:type="dcterms:W3CDTF">2026-09-24T18:52:04Z</dcterms:modified>
</cp:coreProperties>
</file>